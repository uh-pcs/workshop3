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8855B7-B49F-4823-9A39-7BED0B79F2E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Do not say the answer. Ask the room; someone says "3".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Ask HOW they know - they cannot fully explain it, and neither will our network.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promise: one file, built from scratch, that learns to read these.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If a student remembers one sentence tomorrow, make it the title of this slide.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loop diagram returns at the end with every step checked - point here whenever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code changes.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"Grayscale" = one number per pixel. -1 in view() means "however many images there are."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Flattening changes the shape, not the information.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No prior workshop to lean on. Build it from "multiply and add".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Trace the shapes with a finger: the 784 on both sides cancels; (images, 128) is left.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Concept: a layer is a learned matrix multiply plus a bias.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Expected: Linear checkpoint passed: (3, 784) -&gt; (3, 128)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Pause: after forward() - "this one line is the guess."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Likely stumble: forgetting requires_grad_() (grads are None later); mismatched @ shapes.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Do not derive the std formula - call it a sensible starting scale.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Recovery: recover(1).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Concept: the bend that stops stacked layers collapsing into one.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Verified inside Checkpoint 2, no checkpoint of its own.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Likely stumble: x.clamp(0) (that is max), or max(x, 0) on a tensor.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Recovery: recover(2).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Concept: the pieces become one object that turns pixels into ten scores.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Expected: Network checkpoint passed: (4, 784) -&gt; (4, 10)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Pause: count the six tensors together before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Likely stumble: self.layer1(x) instead of .forward(x); a missing ReLU.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Recovery: recover(2).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Show softmax once so "logit" is not a loose end, then set it aside - we never need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it to train. Biggest score wins, with or without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Concept: the flatten/scale from slide 3, on real data, plus the train/test split.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Pause: "why hold back test data?" - so accuracy measures learning, not memorising.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Likely stumble: forgetting .float() (uint8 breaks the matmul); forgetting / 255.0.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Recovery: the setup cell cached MNIST; re-run this block.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Loss is wrongness, not accuracy. Do not open the calculus - the yellow card is the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whole explanation students need today.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Concept: gradient descent - step opposite the gradient, a little; then zero the grads.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Expected: Learning checkpoint passed: 1.0247 -&gt; 0.8123 (numbers vary).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Pause: "why minus?" the gradient points uphill; we want downhill.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Likely stumble: update outside no_grad() -&gt; in-place leaf error; forgetting zero_() -&gt; loss lurches on epoch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Recovery: recover(3).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Have the room name each of the five moves before you run anything. Then reveal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main() and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Anchor on the 10% baseline first. Train and test accuracy both print - note they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track each other here. If the 60-epoch run is still going, keep talking.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memorable slide. Keeps students from over-claiming what they built, and sets 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why bigger models and more data exist. The notebook produces these live.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End on the opening sentence: "Your network made a guess, measured how wrong it was,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changed its weights a little, and repeated. Matrix multiplication became a system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that learns." Then make sure everyone has downloaded the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532073-A763-4AC1-B2D2-494DE76E33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E88BF1-37B3-4D6D-B2BD-56191B85CC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8B5E74A-9CA9-4DAC-81EB-8F0112E05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576000" y="342000"/>
            <a:ext cx="171576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76000" y="342000"/>
            <a:ext cx="171576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PCS WORKSHOP INTRO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76000" y="774000"/>
            <a:ext cx="4896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6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What number is this?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868000" y="1116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61056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63432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65808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68184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70560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72936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7531200" y="1116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7768800" y="1116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58680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1056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63432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5808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68184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70560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2936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75312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7768800" y="1353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5868000" y="1591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105600" y="1591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6343200" y="1591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580800" y="1591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6818400" y="1591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7056000" y="1591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293600" y="1591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7531200" y="1591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7768800" y="1591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58680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1056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3432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5808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6818400" y="1828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056000" y="1828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7293600" y="1828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75312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768800" y="18288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5868000" y="2066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6105600" y="2066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6343200" y="2066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6580800" y="2066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6818400" y="2066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7056000" y="2066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7293600" y="2066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7531200" y="2066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7768800" y="2066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58680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61056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63432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5808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818400" y="2304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7056000" y="2304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7293600" y="23040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5312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7768800" y="23040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8680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61056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63432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5808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68184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7056000" y="25416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293600" y="2541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7531200" y="2541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7768800" y="25416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5868000" y="2779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105600" y="2779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6343200" y="2779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6580800" y="2779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6818400" y="2779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7056000" y="27792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7293600" y="2779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531200" y="2779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768800" y="27792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58680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61056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3432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5808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184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0560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2936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75312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768800" y="30168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5868000" y="3254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61056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3432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5808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68184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70560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72936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7531200" y="3254400"/>
            <a:ext cx="237600" cy="2376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7768800" y="3254400"/>
            <a:ext cx="237600" cy="2376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76000" y="2664000"/>
            <a:ext cx="4896000" cy="2119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6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Your phone reads it instantly.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In one hour you build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6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that can - one Python file, from scratch.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01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>
            <a:off x="576000" y="342000"/>
            <a:ext cx="125784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76000" y="342000"/>
            <a:ext cx="125784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ONE IDEA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Guess. Measure. Change. Repeat.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76000" y="1584000"/>
            <a:ext cx="7920000" cy="3127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A network starts with random weights, so its first guesses are bad - that is where learning begins.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Each round measures how wrong the guess was, finds which weights caused the error, and nudges every weight a little.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576000" y="2772000"/>
            <a:ext cx="1440000" cy="90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76000" y="288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1 Forward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76000" y="324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make a guess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016000" y="2772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2214000" y="2772000"/>
            <a:ext cx="1440000" cy="90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214000" y="288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2 Loss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2214000" y="324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measure wrongness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654000" y="2772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3852000" y="2772000"/>
            <a:ext cx="1440000" cy="90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852000" y="288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3 Backprop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852000" y="324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find gradients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292000" y="2772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5490000" y="2772000"/>
            <a:ext cx="1440000" cy="90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5490000" y="288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4 Update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490000" y="324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change weights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930000" y="2772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7128000" y="2772000"/>
            <a:ext cx="1440000" cy="90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128000" y="288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5 Repeat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128000" y="3240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try again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76000" y="3996000"/>
            <a:ext cx="7920000" cy="787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Every line of code today belongs to one of these five moves.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02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>
            <a:off x="576000" y="342000"/>
            <a:ext cx="202104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76000" y="342000"/>
            <a:ext cx="202104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WHAT THE COMPUTER SEES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76000" y="774000"/>
            <a:ext cx="4860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0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 picture is 784 numbers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6048000" y="1620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2568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64656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66744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68832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70920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73008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7509600" y="1620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7718400" y="1620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60480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62568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64656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66744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68832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70920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73008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75096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7718400" y="1828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048000" y="2037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6256800" y="2037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6465600" y="2037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6674400" y="2037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883200" y="2037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7092000" y="2037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300800" y="2037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7509600" y="2037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718400" y="2037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60480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2568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64656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66744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6883200" y="2246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7092000" y="2246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7300800" y="2246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75096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7718400" y="22464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6048000" y="2455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6256800" y="2455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6465600" y="2455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6674400" y="2455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883200" y="2455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7092000" y="2455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7300800" y="2455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7509600" y="2455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7718400" y="2455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0480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2568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4656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6744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6883200" y="2664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7092000" y="2664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7300800" y="26640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75096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7718400" y="26640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0480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2568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64656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66744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8832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7092000" y="28728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7300800" y="2872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7509600" y="2872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7718400" y="28728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6048000" y="3081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256800" y="3081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6465600" y="3081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6674400" y="3081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6883200" y="3081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7092000" y="30816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7300800" y="3081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7509600" y="3081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7718400" y="30816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60480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62568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64656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66744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68832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70920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73008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75096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7718400" y="32904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6048000" y="3499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62568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64656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66744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68832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70920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73008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509600" y="3499200"/>
            <a:ext cx="208800" cy="2088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7718400" y="3499200"/>
            <a:ext cx="208800" cy="2088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76000" y="1728000"/>
            <a:ext cx="4860000" cy="2983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A 28 x 28 grayscale image: one brightness value per pixel, 0 to 255.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Flatten the square into one row of 784 numbers - no pixel is lost.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Divide by 255 so every value lands between 0 and 1.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576000" y="3816000"/>
            <a:ext cx="4860000" cy="504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76000" y="3816000"/>
            <a:ext cx="486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x = image.view(-1, 784) / 255.0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03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>
            <a:off x="576000" y="342000"/>
            <a:ext cx="133416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76000" y="342000"/>
            <a:ext cx="133416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CORE MOVE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28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Weighted sums, plus a bias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76000" y="1656000"/>
            <a:ext cx="7920000" cy="3055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A layer multiplies each input by an adjustable weight, adds the products, then adds a bias - producing a new set of numbers.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The key word is "adjustable": learning is nothing more than changing these weights.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576000" y="3096000"/>
            <a:ext cx="7992000" cy="504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76000" y="3096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(images, 784) @ (784, 128) + (128) -&gt; (images, 128)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576000" y="3888000"/>
            <a:ext cx="7992000" cy="504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76000" y="3888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@ does every multiply-and-add at once. Inside dims match; outside dims survive.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04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576000" y="342000"/>
            <a:ext cx="179208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76000" y="342000"/>
            <a:ext cx="179208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LIVE BUILD - LINEAR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76000" y="774000"/>
            <a:ext cx="3816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0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Build one learned layer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4644000" y="1044000"/>
            <a:ext cx="3924000" cy="3096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4770000" y="1152000"/>
            <a:ext cx="3672000" cy="288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class Linear: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__init__(self, in_features, out_features):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std = (2 / in_features) ** 0.5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self.weights = torch.randn(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    in_features, out_features) * std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self.bias = torch.zeros(out_features)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self.weights.requires_grad_()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self.bias.requires_grad_()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forward(self, x):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return x @ self.weights + self.bias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parameters(self):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return [self.weights, self.bias]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76000" y="1656000"/>
            <a:ext cx="3816000" cy="3127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Random weights, zero biases.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Ask PyTorch to track them.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forward() makes the guess.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parameters() hands the loop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every value it may change.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Checkpoint 1 - save the file, run the cell. Expect (3, 784) -&gt; (3, 128).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05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576000" y="342000"/>
            <a:ext cx="163944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576000" y="342000"/>
            <a:ext cx="163944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LIVE BUILD - RELU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76000" y="774000"/>
            <a:ext cx="3600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Add a bend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4644000" y="1080000"/>
            <a:ext cx="3924000" cy="108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4770000" y="1188000"/>
            <a:ext cx="3672000" cy="86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1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class ReLU: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forward(self, x):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return x.clamp(min=0)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4644000" y="2376000"/>
            <a:ext cx="3924000" cy="1206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788000" y="2484000"/>
            <a:ext cx="3636000" cy="102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1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Read it as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Below zero becomes zero.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Everything else passes through.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[-2, 0, 3] -&gt; [0, 0, 3]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76000" y="1656000"/>
            <a:ext cx="3816000" cy="3055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Stack linear layers with nothing between them and the whole stack is still just one linear layer.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Digits are messy; the model needs bends to draw richer boundaries.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06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>
            <a:off x="576000" y="342000"/>
            <a:ext cx="186840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576000" y="342000"/>
            <a:ext cx="186840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LIVE BUILD - NETWORK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0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784 -&gt; 128 -&gt; 128 -&gt; 10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576000" y="1440000"/>
            <a:ext cx="7920000" cy="3343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Linear, ReLU, Linear, ReLU, Linear. The ReLUs change values, not dimensions.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3708000" y="1692000"/>
            <a:ext cx="4860000" cy="2412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834000" y="1800000"/>
            <a:ext cx="4608000" cy="219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class NeuralNetwork: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__init__(self, input_size, hidden_size, output_size):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self.layer1 = Linear(input_size, hidden_size)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self.layer2 = Linear(hidden_size, hidden_size)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self.layer3 = Linear(hidden_size, output_size)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self.relu1 = ReLU()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self.relu2 = ReLU()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def forward(self, x):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x = self.layer1.forward(x)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x = self.relu1.forward(x)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x = self.layer2.forward(x)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x = self.relu2.forward(x)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x = self.layer3.forward(x)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return 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76000" y="1872000"/>
            <a:ext cx="2880000" cy="2911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parameters() adds up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to six tensors: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three weights,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three biases.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Checkpoint 2 - four images become ten scores each. Expect (4, 784) -&gt; (4, 10).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07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576000" y="342000"/>
            <a:ext cx="171576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576000" y="342000"/>
            <a:ext cx="171576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READING THE RESULT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Ten scores -&gt; one guess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576000" y="1692000"/>
            <a:ext cx="7920000" cy="3019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Ten numbers out, one per digit. The largest is the model's guess (argmax).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A raw score is called a logit.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prediction.softmax(dim=1) turns the ten into probabilities that add to 1 - same guess, readable confidence.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576000" y="3600000"/>
            <a:ext cx="7992000" cy="504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76000" y="3600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Cross-entropy will compare all ten scores with the correct digit.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08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576000" y="342000"/>
            <a:ext cx="163944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76000" y="342000"/>
            <a:ext cx="163944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LIVE BUILD - 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76000" y="774000"/>
            <a:ext cx="3240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Load MNIST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3816000" y="1044000"/>
            <a:ext cx="4752000" cy="2520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942000" y="1152000"/>
            <a:ext cx="4500000" cy="23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train = torchvision.datasets.MNIST(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root="./data", train=True, download=True)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test = torchvision.datasets.MNIST(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root="./data", train=False, download=True)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x = train.data.float().view(-1, 784) / 255.0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target = train.targets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x_test = test.data.float().view(-1, 784) / 255.0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target_test = test.targets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76000" y="1656000"/>
            <a:ext cx="3096000" cy="3127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Examples for learning,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separate examples for testing.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Flatten to 784.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Scale 0-255 down to 0-1.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Keep each digit as the target.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09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>
            <a:off x="576000" y="342000"/>
            <a:ext cx="209736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76000" y="342000"/>
            <a:ext cx="209736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MEASURE, THEN WALK BACK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0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One number, then every gradient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76000" y="1620000"/>
            <a:ext cx="7920000" cy="3091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4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loss = cross_entropy(prediction, target) is high when the right digit scores poorly, low when it wins - the single signal learning reduces.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• loss.backward() walks the remembered operations in reverse and reports how each weight contributed to the error.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576000" y="3384000"/>
            <a:ext cx="7992000" cy="504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76000" y="3384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loss &lt;- scores &lt;- layers &lt;- every weight and bias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576000" y="4104000"/>
            <a:ext cx="7992000" cy="504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76000" y="4104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A gradient is a direction: changing this value that way would raise the loss.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10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576000" y="342000"/>
            <a:ext cx="179208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576000" y="342000"/>
            <a:ext cx="179208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LIVE BUILD - UPDATE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76000" y="774000"/>
            <a:ext cx="3528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28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One small step, then clear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3816000" y="1044000"/>
            <a:ext cx="4752000" cy="1872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3942000" y="1152000"/>
            <a:ext cx="4500000" cy="165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loss.backward()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with torch.no_grad():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for parameter in model.parameters():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    parameter -= learning_rate * parameter.grad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for parameter in model.parameters():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    parameter.grad.zero_()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3816000" y="2988000"/>
            <a:ext cx="4752000" cy="1206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960000" y="3096000"/>
            <a:ext cx="4464000" cy="102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1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Read it as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Step opposite the gradient, a little.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no_grad(): this is the change itself.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Clear the grads, or the next round mixes old with new.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76000" y="1656000"/>
            <a:ext cx="3024000" cy="3127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Each gradient points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toward more error,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so subtract a little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of it from each weight.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76000" y="4320000"/>
            <a:ext cx="7992000" cy="43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Checkpoint 3 - one manual step makes a fixed problem's loss smaller.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11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576000" y="342000"/>
            <a:ext cx="186840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76000" y="342000"/>
            <a:ext cx="186840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THE CODE IS THE LOOP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Nothing is hidden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576000" y="1620000"/>
            <a:ext cx="1440000" cy="900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576000" y="172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1 Forward 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76000" y="208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make a guess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016000" y="1620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2214000" y="1620000"/>
            <a:ext cx="1440000" cy="900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214000" y="172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2 Loss 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214000" y="208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measure wrongness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654000" y="1620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3852000" y="1620000"/>
            <a:ext cx="1440000" cy="900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852000" y="172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3 Backprop 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852000" y="208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find gradients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292000" y="1620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5490000" y="1620000"/>
            <a:ext cx="1440000" cy="900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490000" y="172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4 Update 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490000" y="208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change weights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930000" y="1620000"/>
            <a:ext cx="198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500" b="1" u="none" strike="noStrike">
                <a:solidFill>
                  <a:srgbClr val="367BF5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7128000" y="1620000"/>
            <a:ext cx="1440000" cy="900000"/>
          </a:xfrm>
          <a:prstGeom prst="rect">
            <a:avLst/>
          </a:prstGeom>
          <a:solidFill>
            <a:srgbClr val="E8F6E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128000" y="172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5 Repeat 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128000" y="2088000"/>
            <a:ext cx="144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0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try again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76000" y="2808000"/>
            <a:ext cx="7920000" cy="1975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1 prediction = model.forward(x)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2 loss = cross_entropy(prediction, target)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3 loss.backward()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4 parameter -= learning_rate * parameter.grad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5 parameter.grad.zero_() -&gt; next epoch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12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576000" y="342000"/>
            <a:ext cx="141048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76000" y="342000"/>
            <a:ext cx="141048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WATCH IT LEARN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Ten rounds, then sixty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576000" y="1728000"/>
            <a:ext cx="2473200" cy="1368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76000" y="1980000"/>
            <a:ext cx="2473200" cy="61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~2.48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76000" y="2484000"/>
            <a:ext cx="2473200" cy="468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starting loss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3337200" y="1728000"/>
            <a:ext cx="2473200" cy="1368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337200" y="1980000"/>
            <a:ext cx="2473200" cy="61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~1.69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337200" y="2484000"/>
            <a:ext cx="2473200" cy="468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loss after 10 epochs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6098400" y="1728000"/>
            <a:ext cx="2473200" cy="1368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098400" y="1980000"/>
            <a:ext cx="2473200" cy="612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~65%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098400" y="2484000"/>
            <a:ext cx="2473200" cy="468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0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test accuracy, 10 epochs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576000" y="3240000"/>
            <a:ext cx="7992000" cy="5040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576000" y="3240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2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Change epochs 10 -&gt; 60: loss ~0.48, test accuracy ~88%. Same architecture, more rounds.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576000" y="3924000"/>
            <a:ext cx="7992000" cy="504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76000" y="3924000"/>
            <a:ext cx="7992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pPr algn="ctr"/>
            <a:r>
              <a:rPr lang="en-US" sz="13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Blind guessing is 10%. Read the trend: loss down, accuracy up.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576000" y="4572000"/>
            <a:ext cx="7920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Illustrative seeded output; facilitator, use the numbers you measured on the event machine.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13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>
            <a:off x="576000" y="342000"/>
            <a:ext cx="225000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76000" y="342000"/>
            <a:ext cx="225000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BE HONEST ABOUT THE MODEL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27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It matches pixels - it does not know digits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108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126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144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162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180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1980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2160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234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2520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108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126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144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162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1800000" y="19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1980000" y="19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2160000" y="19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234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2520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1080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1260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1440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1620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800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1980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2160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2340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2520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1080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1260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1440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1620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1800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1980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2160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2340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2520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1080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1260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1440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1620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1800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1980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2160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2340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2520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108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126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144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162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180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198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216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2340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2520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08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126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144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162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180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198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216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234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2520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108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126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144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62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180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1980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2160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234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2520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108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126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144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162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180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1980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2160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234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2520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108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126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44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162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180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1980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2160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234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2520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518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536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554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572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590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608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626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6444000" y="17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6624000" y="17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5184000" y="19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5364000" y="19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554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572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590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608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626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644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6624000" y="19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5184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5364000" y="21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554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572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590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608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626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644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6624000" y="21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518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536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554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572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590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608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6264000" y="23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6444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6624000" y="23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518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536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554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572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590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608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6264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6444000" y="24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6624000" y="24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518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536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554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572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590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608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6264000" y="266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6444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624000" y="266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518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536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554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572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590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608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"/>
          <p:cNvSpPr/>
          <p:nvPr/>
        </p:nvSpPr>
        <p:spPr>
          <a:xfrm>
            <a:off x="6264000" y="284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6444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6624000" y="284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5184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5364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5544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5724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5904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6084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6264000" y="302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444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>
            <a:off x="6624000" y="302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5184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536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554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572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590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08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626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6444000" y="320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6624000" y="320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5184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5364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5544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5724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5904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6084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6264000" y="3384000"/>
            <a:ext cx="180000" cy="180000"/>
          </a:xfrm>
          <a:prstGeom prst="rect">
            <a:avLst/>
          </a:prstGeom>
          <a:solidFill>
            <a:srgbClr val="24303A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6444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6624000" y="3384000"/>
            <a:ext cx="180000" cy="180000"/>
          </a:xfrm>
          <a:prstGeom prst="rect">
            <a:avLst/>
          </a:prstGeom>
          <a:solidFill>
            <a:srgbClr val="FFF9EE"/>
          </a:solidFill>
          <a:ln w="10800">
            <a:solidFill>
              <a:srgbClr val="ECE1CD"/>
            </a:solidFill>
            <a:round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080000" y="3636000"/>
            <a:ext cx="306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14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guess 9 · truth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5184000" y="3636000"/>
            <a:ext cx="3060000" cy="32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14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guess 3 · truth 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576000" y="4104000"/>
            <a:ext cx="7920000" cy="679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3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It learned pixel patterns that usually work. When a 4 is drawn like a 9, it has nothing else to fall back 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14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"/>
          <p:cNvSpPr/>
          <p:nvPr/>
        </p:nvSpPr>
        <p:spPr>
          <a:xfrm>
            <a:off x="576000" y="342000"/>
            <a:ext cx="2555280" cy="280800"/>
          </a:xfrm>
          <a:prstGeom prst="rect">
            <a:avLst/>
          </a:prstGeom>
          <a:solidFill>
            <a:srgbClr val="EAF2FF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76000" y="342000"/>
            <a:ext cx="2555280" cy="2808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ctr">
            <a:noAutofit/>
          </a:bodyPr>
          <a:p>
            <a:r>
              <a:rPr lang="en-US" sz="95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BEFORE THE RUNTIME DISAPPEARS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76000" y="774000"/>
            <a:ext cx="8064000" cy="684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3200" b="1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Keep the file. Change one thing.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576000" y="1728000"/>
            <a:ext cx="4320000" cy="3055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1 Download mnist_network.py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2 Pick one experiment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3 Predict what will happen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4 Change one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5 Run and compare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5256000" y="1656000"/>
            <a:ext cx="3312000" cy="2520000"/>
          </a:xfrm>
          <a:prstGeom prst="rect">
            <a:avLst/>
          </a:prstGeom>
          <a:solidFill>
            <a:srgbClr val="FFD85A"/>
          </a:solidFill>
          <a:ln w="0">
            <a:noFill/>
          </a:ln>
        </p:spPr>
        <p:txBody>
          <a:bodyPr lIns="90000" tIns="14400" rIns="90000" bIns="14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5436000" y="1764000"/>
            <a:ext cx="2952000" cy="3019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Try one: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epochs 10 -&gt; 60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learning rate 0.1 -&gt; 0.01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hidden size 128 -&gt; 32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break the init (std = 1.0)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4303A"/>
                </a:solidFill>
                <a:effectLst/>
                <a:uFillTx/>
                <a:latin typeface="Arial"/>
              </a:rPr>
              <a:t>layer1_weight_grid(model)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576000" y="4392000"/>
            <a:ext cx="7920000" cy="39168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r>
              <a:rPr lang="en-US" sz="10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You built the layers, the gradients, and the update. The high-level PyTorch tools package the same machinery.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7812000" y="4765680"/>
            <a:ext cx="1044000" cy="216000"/>
          </a:xfrm>
          <a:prstGeom prst="rect">
            <a:avLst/>
          </a:prstGeom>
          <a:noFill/>
          <a:ln w="0">
            <a:noFill/>
          </a:ln>
        </p:spPr>
        <p:txBody>
          <a:bodyPr lIns="90000" tIns="14400" rIns="90000" bIns="14400" anchor="t">
            <a:noAutofit/>
          </a:bodyPr>
          <a:p>
            <a:pPr algn="r"/>
            <a:r>
              <a:rPr lang="en-US" sz="950" b="0" u="none" strike="noStrike">
                <a:solidFill>
                  <a:srgbClr val="77808C"/>
                </a:solidFill>
                <a:effectLst/>
                <a:uFillTx/>
                <a:latin typeface="Arial"/>
              </a:rPr>
              <a:t>15 / 15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