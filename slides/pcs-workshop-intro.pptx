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705BE66-CE22-4D7B-948D-F61259C785D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Do not say the answer - ask the room; someone says "3".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Ask HOW they know: they cannot fully explain it, and neither will our network.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The promise: one file, built from scratch, that learns to read these.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If a student remembers one sentence tomorrow, make it the title of this slide.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The loop strip returns on slide 12 with every step checked - point back here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whenever the code changes.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"Grayscale" = one number per pixel. -1 in view() means "however many images there are."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Flattening changes the shape, not the information.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No prior workshop to lean on - build it from "multiply and add".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Trace the shapes with a finger: the 784 on both sides cancels; (images, 128) is left.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Concept: a layer is a learned matrix multiply plus a bias.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Expected: Linear checkpoint passed: (3, 784) -&gt; (3, 128)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Pause: after forward() - "this one line is the guess."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Likely stumble: forgetting requires_grad_() (grads are None later); mismatched @ shapes.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Do not derive the std formula - call it a sensible starting scale.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Recovery: recover(1).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Concept: the bend that stops stacked layers collapsing into one.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Verified inside Checkpoint 2, no checkpoint of its own.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Likely stumble: x.clamp(0) (that is max), or max(x, 0) on a tensor.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Recovery: recover(2).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Concept: the pieces become one object that turns pixels into ten scores.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Expected: Network checkpoint passed: (4, 784) -&gt; (4, 10)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Pause: count the six tensors together before running.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Likely stumble: self.layer1(x) instead of .forward(x); a missing ReLU.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Recovery: recover(2).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Show softmax once so "logit" is not a loose end, then set it aside.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Biggest score wins, with or without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Concept: the flatten/scale from slide 3, on real data, plus the train/test split.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Pause: "why hold back test data?" - so accuracy measures learning, not memorising.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Likely stumble: forgetting .float() (uint8 breaks the matmul); forgetting / 255.0.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Recovery: the setup cell cached MNIST; re-run this block.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Loss is wrongness, not accuracy. Do not open the calculus - the amber card is the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whole explanation students need today.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Concept: gradient descent - step opposite the gradient, a little; then zero the grads.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Expected: Learning checkpoint passed: 1.0247 -&gt; 0.8123 (numbers vary).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Pause: "why minus?" - the gradient points uphill; we want downhill.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Likely stumble: update outside no_grad() -&gt; in-place leaf error; forgetting zero_() -&gt; loss lurches on epoch 2.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Recovery: recover(3).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Have the room name each of the five moves before you run anything.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Then reveal main() and run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Anchor on the 10% baseline first, then the numbers. Train and test accuracy both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print - note they track each other here. If the 60-epoch run is still going, keep talking.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The memorable slide. Keeps students from over-claiming what they built, and sets up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why bigger models and more data exist. The notebook produces these live.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"/>
          <p:cNvSpPr txBox="1"/>
          <p:nvPr/>
        </p:nvSpPr>
        <p:spPr>
          <a:xfrm>
            <a:off x="720000" y="432000"/>
            <a:ext cx="612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End on the opening sentence: "Your network made a guess, measured how wrong it was,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changed its weights a little, and repeated. Matrix multiplication became a system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that learns." Then make sure everyone has downloaded the file.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5D06C07-5965-413A-AC63-6F1C1EA2D5B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ACC77B3-5458-49D4-9394-6707F8AD65F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498ED7F-72C6-4065-8D8F-D040606A9FF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"/>
          <p:cNvSpPr/>
          <p:nvPr/>
        </p:nvSpPr>
        <p:spPr>
          <a:xfrm>
            <a:off x="630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702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630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702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774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702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774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1044000" y="309600"/>
            <a:ext cx="72000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150" b="0" u="none" spc="170" strike="noStrike">
                <a:solidFill>
                  <a:srgbClr val="46D07E"/>
                </a:solidFill>
                <a:effectLst/>
                <a:uFillTx/>
                <a:latin typeface="Arial"/>
              </a:rPr>
              <a:t>PCS WORKSHOP INTRO · FROM ZERO TO AI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630000" y="1116000"/>
            <a:ext cx="4680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32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Build a neural network that reads handwriting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630000" y="2772000"/>
            <a:ext cx="4500000" cy="136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50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One Python file. Real MNIST digits.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A learning loop you can watch.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630000" y="3456000"/>
            <a:ext cx="4500000" cy="32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250" b="0" i="1" u="none" strike="noStrike">
                <a:solidFill>
                  <a:srgbClr val="5A9DFF"/>
                </a:solidFill>
                <a:effectLst/>
                <a:uFillTx/>
                <a:latin typeface="Arial"/>
              </a:rPr>
              <a:t>You will write every line that matters -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630000" y="3672000"/>
            <a:ext cx="4500000" cy="32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250" b="0" i="1" u="none" strike="noStrike">
                <a:solidFill>
                  <a:srgbClr val="5A9DFF"/>
                </a:solidFill>
                <a:effectLst/>
                <a:uFillTx/>
                <a:latin typeface="Arial"/>
              </a:rPr>
              <a:t>the layers, the loss, the update.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6012000" y="10440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6249600" y="10440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6487200" y="10440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6724800" y="10440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6962400" y="10440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7200000" y="10440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7437600" y="10440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7675200" y="10440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6012000" y="12816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6249600" y="12816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6487200" y="12816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6724800" y="12816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6962400" y="12816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7200000" y="12816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7437600" y="12816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7675200" y="12816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6012000" y="15192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6249600" y="15192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6487200" y="15192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6724800" y="15192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6962400" y="15192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7200000" y="15192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7437600" y="15192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7675200" y="15192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6012000" y="17568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6249600" y="17568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6487200" y="17568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6724800" y="17568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6962400" y="17568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7200000" y="17568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7437600" y="17568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7675200" y="17568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6012000" y="19944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6249600" y="19944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6487200" y="19944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6724800" y="19944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6962400" y="19944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7200000" y="19944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7437600" y="19944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7675200" y="19944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6012000" y="22320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6249600" y="22320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6487200" y="22320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6724800" y="22320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6962400" y="22320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7200000" y="22320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7437600" y="22320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7675200" y="22320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6012000" y="24696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6249600" y="24696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6487200" y="24696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6724800" y="24696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6962400" y="24696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7200000" y="24696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7437600" y="24696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7675200" y="24696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6012000" y="27072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6249600" y="27072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6487200" y="27072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6724800" y="27072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6962400" y="27072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7200000" y="27072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7437600" y="27072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7675200" y="27072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6012000" y="29448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6249600" y="29448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6487200" y="29448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6724800" y="29448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6962400" y="29448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7200000" y="29448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7437600" y="29448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7675200" y="29448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6012000" y="31824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6249600" y="31824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6487200" y="31824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/>
          <p:nvPr/>
        </p:nvSpPr>
        <p:spPr>
          <a:xfrm>
            <a:off x="6724800" y="31824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6962400" y="31824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>
            <a:off x="7200000" y="3182400"/>
            <a:ext cx="216000" cy="216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7437600" y="31824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7675200" y="3182400"/>
            <a:ext cx="216000" cy="2160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6012000" y="3456000"/>
            <a:ext cx="19080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1100" b="0" i="1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what number is this?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7704000" y="4801680"/>
            <a:ext cx="1152000" cy="19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r"/>
            <a:r>
              <a:rPr lang="en-US" sz="95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01 / 15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"/>
          <p:cNvSpPr/>
          <p:nvPr/>
        </p:nvSpPr>
        <p:spPr>
          <a:xfrm>
            <a:off x="630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702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630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702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774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702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774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044000" y="309600"/>
            <a:ext cx="72000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150" b="0" u="none" spc="170" strike="noStrike">
                <a:solidFill>
                  <a:srgbClr val="46D07E"/>
                </a:solidFill>
                <a:effectLst/>
                <a:uFillTx/>
                <a:latin typeface="Arial"/>
              </a:rPr>
              <a:t>THE ONE IDEA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30000" y="702000"/>
            <a:ext cx="7920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30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Guess. Measure. Change. Repeat.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630000" y="1656000"/>
            <a:ext cx="8100000" cy="28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30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A network starts with random weights, so its first guesses are bad - and that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is exactly where learning begins.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Each round measures how wrong the guess was, finds which weights caused the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error, and nudges every weight a little.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630000" y="2988000"/>
            <a:ext cx="1375200" cy="900000"/>
          </a:xfrm>
          <a:prstGeom prst="rect">
            <a:avLst/>
          </a:prstGeom>
          <a:solidFill>
            <a:srgbClr val="0A0C12"/>
          </a:solidFill>
          <a:ln w="9360">
            <a:solidFill>
              <a:srgbClr val="272C38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738000" y="3078000"/>
            <a:ext cx="1195200" cy="2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100" b="1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630000" y="3330000"/>
            <a:ext cx="1375200" cy="2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13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Forward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630000" y="3564000"/>
            <a:ext cx="13752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90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make a guess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2005200" y="2988000"/>
            <a:ext cx="252000" cy="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1500" b="1" u="none" strike="noStrike">
                <a:solidFill>
                  <a:srgbClr val="8B80F9"/>
                </a:solidFill>
                <a:effectLst/>
                <a:uFillTx/>
                <a:latin typeface="Arial"/>
              </a:rPr>
              <a:t>→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2257200" y="2988000"/>
            <a:ext cx="1375200" cy="900000"/>
          </a:xfrm>
          <a:prstGeom prst="rect">
            <a:avLst/>
          </a:prstGeom>
          <a:solidFill>
            <a:srgbClr val="0A0C12"/>
          </a:solidFill>
          <a:ln w="9360">
            <a:solidFill>
              <a:srgbClr val="272C38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2365200" y="3078000"/>
            <a:ext cx="1195200" cy="2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100" b="1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2257200" y="3330000"/>
            <a:ext cx="1375200" cy="2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13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Loss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2257200" y="3564000"/>
            <a:ext cx="13752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90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measure wrongness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3632400" y="2988000"/>
            <a:ext cx="252000" cy="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1500" b="1" u="none" strike="noStrike">
                <a:solidFill>
                  <a:srgbClr val="8B80F9"/>
                </a:solidFill>
                <a:effectLst/>
                <a:uFillTx/>
                <a:latin typeface="Arial"/>
              </a:rPr>
              <a:t>→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3884400" y="2988000"/>
            <a:ext cx="1375200" cy="900000"/>
          </a:xfrm>
          <a:prstGeom prst="rect">
            <a:avLst/>
          </a:prstGeom>
          <a:solidFill>
            <a:srgbClr val="0A0C12"/>
          </a:solidFill>
          <a:ln w="9360">
            <a:solidFill>
              <a:srgbClr val="272C38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3992400" y="3078000"/>
            <a:ext cx="1195200" cy="2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100" b="1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3884400" y="3330000"/>
            <a:ext cx="1375200" cy="2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13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Backprop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3884400" y="3564000"/>
            <a:ext cx="13752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90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find gradients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259600" y="2988000"/>
            <a:ext cx="252000" cy="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1500" b="1" u="none" strike="noStrike">
                <a:solidFill>
                  <a:srgbClr val="8B80F9"/>
                </a:solidFill>
                <a:effectLst/>
                <a:uFillTx/>
                <a:latin typeface="Arial"/>
              </a:rPr>
              <a:t>→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5511600" y="2988000"/>
            <a:ext cx="1375200" cy="900000"/>
          </a:xfrm>
          <a:prstGeom prst="rect">
            <a:avLst/>
          </a:prstGeom>
          <a:solidFill>
            <a:srgbClr val="0A0C12"/>
          </a:solidFill>
          <a:ln w="9360">
            <a:solidFill>
              <a:srgbClr val="272C38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5619600" y="3078000"/>
            <a:ext cx="1195200" cy="2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100" b="1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5511600" y="3330000"/>
            <a:ext cx="1375200" cy="2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13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Update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5511600" y="3564000"/>
            <a:ext cx="13752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90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change weights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886800" y="2988000"/>
            <a:ext cx="252000" cy="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1500" b="1" u="none" strike="noStrike">
                <a:solidFill>
                  <a:srgbClr val="8B80F9"/>
                </a:solidFill>
                <a:effectLst/>
                <a:uFillTx/>
                <a:latin typeface="Arial"/>
              </a:rPr>
              <a:t>→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7138800" y="2988000"/>
            <a:ext cx="1375200" cy="900000"/>
          </a:xfrm>
          <a:prstGeom prst="rect">
            <a:avLst/>
          </a:prstGeom>
          <a:solidFill>
            <a:srgbClr val="0A0C12"/>
          </a:solidFill>
          <a:ln w="9360">
            <a:solidFill>
              <a:srgbClr val="272C38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7246800" y="3078000"/>
            <a:ext cx="1195200" cy="2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100" b="1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7138800" y="3330000"/>
            <a:ext cx="1375200" cy="2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13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Repeat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7138800" y="3564000"/>
            <a:ext cx="13752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90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try again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630000" y="4140000"/>
            <a:ext cx="7920000" cy="32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250" b="0" i="1" u="none" strike="noStrike">
                <a:solidFill>
                  <a:srgbClr val="5A9DFF"/>
                </a:solidFill>
                <a:effectLst/>
                <a:uFillTx/>
                <a:latin typeface="Arial"/>
              </a:rPr>
              <a:t>Every line of code today belongs to one of these five moves.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7704000" y="4801680"/>
            <a:ext cx="1152000" cy="19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r"/>
            <a:r>
              <a:rPr lang="en-US" sz="95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02 / 15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"/>
          <p:cNvSpPr/>
          <p:nvPr/>
        </p:nvSpPr>
        <p:spPr>
          <a:xfrm>
            <a:off x="630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702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630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702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774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702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774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1044000" y="309600"/>
            <a:ext cx="72000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150" b="0" u="none" spc="170" strike="noStrike">
                <a:solidFill>
                  <a:srgbClr val="46D07E"/>
                </a:solidFill>
                <a:effectLst/>
                <a:uFillTx/>
                <a:latin typeface="Arial"/>
              </a:rPr>
              <a:t>WHAT THE COMPUTER SEES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630000" y="702000"/>
            <a:ext cx="4860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32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A picture is 784 numbers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630000" y="1656000"/>
            <a:ext cx="4752000" cy="187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35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A 28 x 28 grayscale image: one brightness value per pixel, 0 to 255.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35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Flatten the square into one row of 784 numbers - no pixel is lost.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35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Divide by 255 so every value lands between 0 and 1.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630000" y="3456000"/>
            <a:ext cx="4752000" cy="540000"/>
          </a:xfrm>
          <a:prstGeom prst="rect">
            <a:avLst/>
          </a:prstGeom>
          <a:solidFill>
            <a:srgbClr val="0A0C12"/>
          </a:solidFill>
          <a:ln w="9360">
            <a:solidFill>
              <a:srgbClr val="272C38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810000" y="3618000"/>
            <a:ext cx="43920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x = image.view(-1, 784) / 255.0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5904000" y="1152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/>
          <p:nvPr/>
        </p:nvSpPr>
        <p:spPr>
          <a:xfrm>
            <a:off x="6120000" y="1152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6336000" y="1152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6552000" y="1152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6768000" y="1152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6984000" y="1152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7200000" y="1152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7416000" y="1152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5904000" y="1368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6120000" y="1368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6336000" y="1368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6552000" y="1368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/>
          <p:nvPr/>
        </p:nvSpPr>
        <p:spPr>
          <a:xfrm>
            <a:off x="6768000" y="1368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/>
          <p:nvPr/>
        </p:nvSpPr>
        <p:spPr>
          <a:xfrm>
            <a:off x="6984000" y="1368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7200000" y="1368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7416000" y="1368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5904000" y="1584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/>
          <p:nvPr/>
        </p:nvSpPr>
        <p:spPr>
          <a:xfrm>
            <a:off x="6120000" y="1584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6336000" y="1584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/>
          <p:nvPr/>
        </p:nvSpPr>
        <p:spPr>
          <a:xfrm>
            <a:off x="6552000" y="1584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6768000" y="1584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/>
          <p:nvPr/>
        </p:nvSpPr>
        <p:spPr>
          <a:xfrm>
            <a:off x="6984000" y="1584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/>
          <p:nvPr/>
        </p:nvSpPr>
        <p:spPr>
          <a:xfrm>
            <a:off x="7200000" y="1584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"/>
          <p:cNvSpPr/>
          <p:nvPr/>
        </p:nvSpPr>
        <p:spPr>
          <a:xfrm>
            <a:off x="7416000" y="1584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5904000" y="1800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/>
          <p:nvPr/>
        </p:nvSpPr>
        <p:spPr>
          <a:xfrm>
            <a:off x="6120000" y="1800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/>
          <p:nvPr/>
        </p:nvSpPr>
        <p:spPr>
          <a:xfrm>
            <a:off x="6336000" y="1800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>
            <a:off x="6552000" y="1800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6768000" y="1800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>
            <a:off x="6984000" y="1800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/>
          <p:nvPr/>
        </p:nvSpPr>
        <p:spPr>
          <a:xfrm>
            <a:off x="7200000" y="1800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/>
          <p:nvPr/>
        </p:nvSpPr>
        <p:spPr>
          <a:xfrm>
            <a:off x="7416000" y="1800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>
            <a:off x="5904000" y="2016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/>
          <p:nvPr/>
        </p:nvSpPr>
        <p:spPr>
          <a:xfrm>
            <a:off x="6120000" y="2016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"/>
          <p:cNvSpPr/>
          <p:nvPr/>
        </p:nvSpPr>
        <p:spPr>
          <a:xfrm>
            <a:off x="6336000" y="2016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/>
          <p:nvPr/>
        </p:nvSpPr>
        <p:spPr>
          <a:xfrm>
            <a:off x="6552000" y="2016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6768000" y="2016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/>
          <p:nvPr/>
        </p:nvSpPr>
        <p:spPr>
          <a:xfrm>
            <a:off x="6984000" y="2016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/>
          <p:nvPr/>
        </p:nvSpPr>
        <p:spPr>
          <a:xfrm>
            <a:off x="7200000" y="2016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7416000" y="2016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5904000" y="2232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/>
          <p:nvPr/>
        </p:nvSpPr>
        <p:spPr>
          <a:xfrm>
            <a:off x="6120000" y="2232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"/>
          <p:cNvSpPr/>
          <p:nvPr/>
        </p:nvSpPr>
        <p:spPr>
          <a:xfrm>
            <a:off x="6336000" y="2232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/>
          <p:nvPr/>
        </p:nvSpPr>
        <p:spPr>
          <a:xfrm>
            <a:off x="6552000" y="2232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>
            <a:off x="6768000" y="2232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/>
          <p:nvPr/>
        </p:nvSpPr>
        <p:spPr>
          <a:xfrm>
            <a:off x="6984000" y="2232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/>
          <p:nvPr/>
        </p:nvSpPr>
        <p:spPr>
          <a:xfrm>
            <a:off x="7200000" y="2232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"/>
          <p:cNvSpPr/>
          <p:nvPr/>
        </p:nvSpPr>
        <p:spPr>
          <a:xfrm>
            <a:off x="7416000" y="2232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5904000" y="2448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>
            <a:off x="6120000" y="2448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6336000" y="2448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6552000" y="2448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/>
          <p:nvPr/>
        </p:nvSpPr>
        <p:spPr>
          <a:xfrm>
            <a:off x="6768000" y="2448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"/>
          <p:cNvSpPr/>
          <p:nvPr/>
        </p:nvSpPr>
        <p:spPr>
          <a:xfrm>
            <a:off x="6984000" y="2448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"/>
          <p:cNvSpPr/>
          <p:nvPr/>
        </p:nvSpPr>
        <p:spPr>
          <a:xfrm>
            <a:off x="7200000" y="2448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/>
          <p:nvPr/>
        </p:nvSpPr>
        <p:spPr>
          <a:xfrm>
            <a:off x="7416000" y="2448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5904000" y="2664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"/>
          <p:cNvSpPr/>
          <p:nvPr/>
        </p:nvSpPr>
        <p:spPr>
          <a:xfrm>
            <a:off x="6120000" y="2664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"/>
          <p:cNvSpPr/>
          <p:nvPr/>
        </p:nvSpPr>
        <p:spPr>
          <a:xfrm>
            <a:off x="6336000" y="2664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"/>
          <p:cNvSpPr/>
          <p:nvPr/>
        </p:nvSpPr>
        <p:spPr>
          <a:xfrm>
            <a:off x="6552000" y="2664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"/>
          <p:cNvSpPr/>
          <p:nvPr/>
        </p:nvSpPr>
        <p:spPr>
          <a:xfrm>
            <a:off x="6768000" y="2664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/>
          <p:nvPr/>
        </p:nvSpPr>
        <p:spPr>
          <a:xfrm>
            <a:off x="6984000" y="2664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7200000" y="2664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/>
          <p:nvPr/>
        </p:nvSpPr>
        <p:spPr>
          <a:xfrm>
            <a:off x="7416000" y="2664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>
            <a:off x="5904000" y="2880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6120000" y="2880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6336000" y="2880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"/>
          <p:cNvSpPr/>
          <p:nvPr/>
        </p:nvSpPr>
        <p:spPr>
          <a:xfrm>
            <a:off x="6552000" y="2880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6768000" y="2880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"/>
          <p:cNvSpPr/>
          <p:nvPr/>
        </p:nvSpPr>
        <p:spPr>
          <a:xfrm>
            <a:off x="6984000" y="2880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"/>
          <p:cNvSpPr/>
          <p:nvPr/>
        </p:nvSpPr>
        <p:spPr>
          <a:xfrm>
            <a:off x="7200000" y="2880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/>
          <p:nvPr/>
        </p:nvSpPr>
        <p:spPr>
          <a:xfrm>
            <a:off x="7416000" y="2880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5904000" y="3096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"/>
          <p:cNvSpPr/>
          <p:nvPr/>
        </p:nvSpPr>
        <p:spPr>
          <a:xfrm>
            <a:off x="6120000" y="3096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6336000" y="3096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"/>
          <p:cNvSpPr/>
          <p:nvPr/>
        </p:nvSpPr>
        <p:spPr>
          <a:xfrm>
            <a:off x="6552000" y="3096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"/>
          <p:cNvSpPr/>
          <p:nvPr/>
        </p:nvSpPr>
        <p:spPr>
          <a:xfrm>
            <a:off x="6768000" y="3096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"/>
          <p:cNvSpPr/>
          <p:nvPr/>
        </p:nvSpPr>
        <p:spPr>
          <a:xfrm>
            <a:off x="6984000" y="3096000"/>
            <a:ext cx="194400" cy="1944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"/>
          <p:cNvSpPr/>
          <p:nvPr/>
        </p:nvSpPr>
        <p:spPr>
          <a:xfrm>
            <a:off x="7200000" y="3096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"/>
          <p:cNvSpPr/>
          <p:nvPr/>
        </p:nvSpPr>
        <p:spPr>
          <a:xfrm>
            <a:off x="7416000" y="3096000"/>
            <a:ext cx="194400" cy="1944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7704000" y="4801680"/>
            <a:ext cx="1152000" cy="19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r"/>
            <a:r>
              <a:rPr lang="en-US" sz="95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03 / 15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"/>
          <p:cNvSpPr/>
          <p:nvPr/>
        </p:nvSpPr>
        <p:spPr>
          <a:xfrm>
            <a:off x="630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"/>
          <p:cNvSpPr/>
          <p:nvPr/>
        </p:nvSpPr>
        <p:spPr>
          <a:xfrm>
            <a:off x="702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"/>
          <p:cNvSpPr/>
          <p:nvPr/>
        </p:nvSpPr>
        <p:spPr>
          <a:xfrm>
            <a:off x="630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"/>
          <p:cNvSpPr/>
          <p:nvPr/>
        </p:nvSpPr>
        <p:spPr>
          <a:xfrm>
            <a:off x="702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"/>
          <p:cNvSpPr/>
          <p:nvPr/>
        </p:nvSpPr>
        <p:spPr>
          <a:xfrm>
            <a:off x="774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"/>
          <p:cNvSpPr/>
          <p:nvPr/>
        </p:nvSpPr>
        <p:spPr>
          <a:xfrm>
            <a:off x="702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"/>
          <p:cNvSpPr/>
          <p:nvPr/>
        </p:nvSpPr>
        <p:spPr>
          <a:xfrm>
            <a:off x="774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1044000" y="309600"/>
            <a:ext cx="72000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150" b="0" u="none" spc="170" strike="noStrike">
                <a:solidFill>
                  <a:srgbClr val="46D07E"/>
                </a:solidFill>
                <a:effectLst/>
                <a:uFillTx/>
                <a:latin typeface="Arial"/>
              </a:rPr>
              <a:t>THE CORE MOVE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630000" y="702000"/>
            <a:ext cx="6300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32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Weighted sums, plus a bias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630000" y="1548000"/>
            <a:ext cx="7920000" cy="28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35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A layer multiplies each input by an adjustable weight, adds the products,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35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then adds a bias - producing a new set of numbers.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35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The key word is "adjustable": learning is nothing more than changing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35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these weights.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"/>
          <p:cNvSpPr/>
          <p:nvPr/>
        </p:nvSpPr>
        <p:spPr>
          <a:xfrm>
            <a:off x="630000" y="3168000"/>
            <a:ext cx="7884000" cy="540000"/>
          </a:xfrm>
          <a:prstGeom prst="rect">
            <a:avLst/>
          </a:prstGeom>
          <a:solidFill>
            <a:srgbClr val="0A0C12"/>
          </a:solidFill>
          <a:ln w="9360">
            <a:solidFill>
              <a:srgbClr val="272C38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810000" y="3330000"/>
            <a:ext cx="75240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(images, 784) @ (784, 128) + (128) -&gt; (images, 128)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"/>
          <p:cNvSpPr/>
          <p:nvPr/>
        </p:nvSpPr>
        <p:spPr>
          <a:xfrm>
            <a:off x="630000" y="3924000"/>
            <a:ext cx="7884000" cy="540000"/>
          </a:xfrm>
          <a:prstGeom prst="rect">
            <a:avLst/>
          </a:prstGeom>
          <a:solidFill>
            <a:srgbClr val="241E0C"/>
          </a:solidFill>
          <a:ln w="12600">
            <a:solidFill>
              <a:srgbClr val="F5B301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"/>
          <p:cNvSpPr/>
          <p:nvPr/>
        </p:nvSpPr>
        <p:spPr>
          <a:xfrm>
            <a:off x="828000" y="4042800"/>
            <a:ext cx="302400" cy="302400"/>
          </a:xfrm>
          <a:prstGeom prst="ellipse">
            <a:avLst/>
          </a:prstGeom>
          <a:solidFill>
            <a:srgbClr val="F5B30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828000" y="4042800"/>
            <a:ext cx="302400" cy="30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1600" b="1" u="none" strike="noStrike">
                <a:solidFill>
                  <a:srgbClr val="0E1119"/>
                </a:solidFill>
                <a:effectLst/>
                <a:uFillTx/>
                <a:latin typeface="Arial"/>
              </a:rPr>
              <a:t>!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1332000" y="4032000"/>
            <a:ext cx="6984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25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The inner dimensions match; the outer ones survive. @ runs every multiply-and-add at once.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7704000" y="4801680"/>
            <a:ext cx="1152000" cy="19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r"/>
            <a:r>
              <a:rPr lang="en-US" sz="95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04 / 15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"/>
          <p:cNvSpPr/>
          <p:nvPr/>
        </p:nvSpPr>
        <p:spPr>
          <a:xfrm>
            <a:off x="630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"/>
          <p:cNvSpPr/>
          <p:nvPr/>
        </p:nvSpPr>
        <p:spPr>
          <a:xfrm>
            <a:off x="702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"/>
          <p:cNvSpPr/>
          <p:nvPr/>
        </p:nvSpPr>
        <p:spPr>
          <a:xfrm>
            <a:off x="630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"/>
          <p:cNvSpPr/>
          <p:nvPr/>
        </p:nvSpPr>
        <p:spPr>
          <a:xfrm>
            <a:off x="702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"/>
          <p:cNvSpPr/>
          <p:nvPr/>
        </p:nvSpPr>
        <p:spPr>
          <a:xfrm>
            <a:off x="774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"/>
          <p:cNvSpPr/>
          <p:nvPr/>
        </p:nvSpPr>
        <p:spPr>
          <a:xfrm>
            <a:off x="702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"/>
          <p:cNvSpPr/>
          <p:nvPr/>
        </p:nvSpPr>
        <p:spPr>
          <a:xfrm>
            <a:off x="774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1044000" y="309600"/>
            <a:ext cx="72000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150" b="0" u="none" spc="170" strike="noStrike">
                <a:solidFill>
                  <a:srgbClr val="46D07E"/>
                </a:solidFill>
                <a:effectLst/>
                <a:uFillTx/>
                <a:latin typeface="Arial"/>
              </a:rPr>
              <a:t>LIVE BUILD · LINEAR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630000" y="702000"/>
            <a:ext cx="3780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26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Build one learned layer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"/>
          <p:cNvSpPr/>
          <p:nvPr/>
        </p:nvSpPr>
        <p:spPr>
          <a:xfrm>
            <a:off x="4572000" y="972000"/>
            <a:ext cx="3942000" cy="3204000"/>
          </a:xfrm>
          <a:prstGeom prst="rect">
            <a:avLst/>
          </a:prstGeom>
          <a:solidFill>
            <a:srgbClr val="0A0C12"/>
          </a:solidFill>
          <a:ln w="9360">
            <a:solidFill>
              <a:srgbClr val="272C38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4752000" y="1134000"/>
            <a:ext cx="3582000" cy="29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class Linear: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def __init__(self, in_features, out_features):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    std = (2 / in_features) ** 0.5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    self.weights = torch.randn(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        in_features, out_features) * std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    self.bias = torch.zeros(out_features)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    self.weights.requires_grad_()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    self.bias.requires_grad_()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def forward(self, x):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    return x @ self.weights + self.bias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def parameters(self):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    return [self.weights, self.bias]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"/>
          <p:cNvSpPr/>
          <p:nvPr/>
        </p:nvSpPr>
        <p:spPr>
          <a:xfrm>
            <a:off x="630000" y="1836000"/>
            <a:ext cx="3672000" cy="1735200"/>
          </a:xfrm>
          <a:prstGeom prst="rect">
            <a:avLst/>
          </a:prstGeom>
          <a:solidFill>
            <a:srgbClr val="1A1836"/>
          </a:solidFill>
          <a:ln w="10800">
            <a:solidFill>
              <a:srgbClr val="8B80F9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828000" y="1987200"/>
            <a:ext cx="3276000" cy="1483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050" b="1" u="none" spc="142" strike="noStrike">
                <a:solidFill>
                  <a:srgbClr val="8B80F9"/>
                </a:solidFill>
                <a:effectLst/>
                <a:uFillTx/>
                <a:latin typeface="Arial"/>
              </a:rPr>
              <a:t>READ IT AS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Random weights, zero biases.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Ask PyTorch to track them.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forward() makes the guess.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parameters() = every value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the loop may change.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"/>
          <p:cNvSpPr/>
          <p:nvPr/>
        </p:nvSpPr>
        <p:spPr>
          <a:xfrm>
            <a:off x="630000" y="4374000"/>
            <a:ext cx="7884000" cy="414000"/>
          </a:xfrm>
          <a:prstGeom prst="rect">
            <a:avLst/>
          </a:prstGeom>
          <a:solidFill>
            <a:srgbClr val="10241A"/>
          </a:solidFill>
          <a:ln w="10080">
            <a:solidFill>
              <a:srgbClr val="46D07E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846000" y="4374000"/>
            <a:ext cx="7524000" cy="41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150" b="1" u="none" strike="noStrike">
                <a:solidFill>
                  <a:srgbClr val="46D07E"/>
                </a:solidFill>
                <a:effectLst/>
                <a:uFillTx/>
                <a:latin typeface="Arial"/>
              </a:rPr>
              <a:t>✓ Checkpoint 1 - save the file, run the cell. Expect (3, 784) -&gt; (3, 128).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7704000" y="4801680"/>
            <a:ext cx="1152000" cy="19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r"/>
            <a:r>
              <a:rPr lang="en-US" sz="95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05 / 15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"/>
          <p:cNvSpPr/>
          <p:nvPr/>
        </p:nvSpPr>
        <p:spPr>
          <a:xfrm>
            <a:off x="630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"/>
          <p:cNvSpPr/>
          <p:nvPr/>
        </p:nvSpPr>
        <p:spPr>
          <a:xfrm>
            <a:off x="702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"/>
          <p:cNvSpPr/>
          <p:nvPr/>
        </p:nvSpPr>
        <p:spPr>
          <a:xfrm>
            <a:off x="630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"/>
          <p:cNvSpPr/>
          <p:nvPr/>
        </p:nvSpPr>
        <p:spPr>
          <a:xfrm>
            <a:off x="702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>
            <a:off x="774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"/>
          <p:cNvSpPr/>
          <p:nvPr/>
        </p:nvSpPr>
        <p:spPr>
          <a:xfrm>
            <a:off x="702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"/>
          <p:cNvSpPr/>
          <p:nvPr/>
        </p:nvSpPr>
        <p:spPr>
          <a:xfrm>
            <a:off x="774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1044000" y="309600"/>
            <a:ext cx="72000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150" b="0" u="none" spc="170" strike="noStrike">
                <a:solidFill>
                  <a:srgbClr val="46D07E"/>
                </a:solidFill>
                <a:effectLst/>
                <a:uFillTx/>
                <a:latin typeface="Arial"/>
              </a:rPr>
              <a:t>LIVE BUILD · RELU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630000" y="702000"/>
            <a:ext cx="3600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32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Add a bend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"/>
          <p:cNvSpPr/>
          <p:nvPr/>
        </p:nvSpPr>
        <p:spPr>
          <a:xfrm>
            <a:off x="4572000" y="1044000"/>
            <a:ext cx="3942000" cy="1044000"/>
          </a:xfrm>
          <a:prstGeom prst="rect">
            <a:avLst/>
          </a:prstGeom>
          <a:solidFill>
            <a:srgbClr val="0A0C12"/>
          </a:solidFill>
          <a:ln w="9360">
            <a:solidFill>
              <a:srgbClr val="272C38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4752000" y="1206000"/>
            <a:ext cx="3582000" cy="75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0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class ReLU: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0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def forward(self, x):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0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    return x.clamp(min=0)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"/>
          <p:cNvSpPr/>
          <p:nvPr/>
        </p:nvSpPr>
        <p:spPr>
          <a:xfrm>
            <a:off x="4572000" y="2304000"/>
            <a:ext cx="3942000" cy="1288800"/>
          </a:xfrm>
          <a:prstGeom prst="rect">
            <a:avLst/>
          </a:prstGeom>
          <a:solidFill>
            <a:srgbClr val="1A1836"/>
          </a:solidFill>
          <a:ln w="10800">
            <a:solidFill>
              <a:srgbClr val="8B80F9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4770000" y="2455200"/>
            <a:ext cx="3546000" cy="103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050" b="1" u="none" spc="142" strike="noStrike">
                <a:solidFill>
                  <a:srgbClr val="8B80F9"/>
                </a:solidFill>
                <a:effectLst/>
                <a:uFillTx/>
                <a:latin typeface="Arial"/>
              </a:rPr>
              <a:t>READ IT AS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Below zero becomes zero.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Everything else passes through.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[-2, 0, 3] -&gt; [0, 0, 3]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630000" y="1620000"/>
            <a:ext cx="3744000" cy="28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30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Stack linear layers with nothing between them and the whole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stack is still just one linear layer.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Digits are messy; the model needs bends to draw richer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boundaries.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7704000" y="4801680"/>
            <a:ext cx="1152000" cy="19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r"/>
            <a:r>
              <a:rPr lang="en-US" sz="95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06 / 15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"/>
          <p:cNvSpPr/>
          <p:nvPr/>
        </p:nvSpPr>
        <p:spPr>
          <a:xfrm>
            <a:off x="630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"/>
          <p:cNvSpPr/>
          <p:nvPr/>
        </p:nvSpPr>
        <p:spPr>
          <a:xfrm>
            <a:off x="702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"/>
          <p:cNvSpPr/>
          <p:nvPr/>
        </p:nvSpPr>
        <p:spPr>
          <a:xfrm>
            <a:off x="630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"/>
          <p:cNvSpPr/>
          <p:nvPr/>
        </p:nvSpPr>
        <p:spPr>
          <a:xfrm>
            <a:off x="702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"/>
          <p:cNvSpPr/>
          <p:nvPr/>
        </p:nvSpPr>
        <p:spPr>
          <a:xfrm>
            <a:off x="774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"/>
          <p:cNvSpPr/>
          <p:nvPr/>
        </p:nvSpPr>
        <p:spPr>
          <a:xfrm>
            <a:off x="702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"/>
          <p:cNvSpPr/>
          <p:nvPr/>
        </p:nvSpPr>
        <p:spPr>
          <a:xfrm>
            <a:off x="774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044000" y="309600"/>
            <a:ext cx="72000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150" b="0" u="none" spc="170" strike="noStrike">
                <a:solidFill>
                  <a:srgbClr val="46D07E"/>
                </a:solidFill>
                <a:effectLst/>
                <a:uFillTx/>
                <a:latin typeface="Arial"/>
              </a:rPr>
              <a:t>LIVE BUILD · NETWORK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630000" y="702000"/>
            <a:ext cx="6300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30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784 -&gt; 128 -&gt; 128 -&gt; 10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630000" y="1404000"/>
            <a:ext cx="7920000" cy="2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200" b="0" i="1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Linear, ReLU, Linear, ReLU, Linear. The ReLUs change values, not dimensions.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"/>
          <p:cNvSpPr/>
          <p:nvPr/>
        </p:nvSpPr>
        <p:spPr>
          <a:xfrm>
            <a:off x="3564000" y="1764000"/>
            <a:ext cx="4950000" cy="2448000"/>
          </a:xfrm>
          <a:prstGeom prst="rect">
            <a:avLst/>
          </a:prstGeom>
          <a:solidFill>
            <a:srgbClr val="0A0C12"/>
          </a:solidFill>
          <a:ln w="9360">
            <a:solidFill>
              <a:srgbClr val="272C38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3744000" y="1926000"/>
            <a:ext cx="4590000" cy="21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8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class NeuralNetwork: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8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def __init__(self, input_size, hidden_size, output_size):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8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    self.layer1 = Linear(input_size, hidden_size)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8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    self.layer2 = Linear(hidden_size, hidden_size)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8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    self.layer3 = Linear(hidden_size, output_size)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8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    self.relu1 = ReLU()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8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    self.relu2 = ReLU()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8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def forward(self, x):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8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    x = self.layer1.forward(x)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8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    x = self.relu1.forward(x)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8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    x = self.layer2.forward(x)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8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    x = self.relu2.forward(x)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8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    x = self.layer3.forward(x)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8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    return x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"/>
          <p:cNvSpPr/>
          <p:nvPr/>
        </p:nvSpPr>
        <p:spPr>
          <a:xfrm>
            <a:off x="630000" y="1872000"/>
            <a:ext cx="2736000" cy="1288800"/>
          </a:xfrm>
          <a:prstGeom prst="rect">
            <a:avLst/>
          </a:prstGeom>
          <a:solidFill>
            <a:srgbClr val="1A1836"/>
          </a:solidFill>
          <a:ln w="10800">
            <a:solidFill>
              <a:srgbClr val="8B80F9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828000" y="2023200"/>
            <a:ext cx="2340000" cy="103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050" b="1" u="none" spc="142" strike="noStrike">
                <a:solidFill>
                  <a:srgbClr val="8B80F9"/>
                </a:solidFill>
                <a:effectLst/>
                <a:uFillTx/>
                <a:latin typeface="Arial"/>
              </a:rPr>
              <a:t>READ IT AS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Six trainable tensors: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three weights,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three biases.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"/>
          <p:cNvSpPr/>
          <p:nvPr/>
        </p:nvSpPr>
        <p:spPr>
          <a:xfrm>
            <a:off x="630000" y="4374000"/>
            <a:ext cx="7884000" cy="414000"/>
          </a:xfrm>
          <a:prstGeom prst="rect">
            <a:avLst/>
          </a:prstGeom>
          <a:solidFill>
            <a:srgbClr val="10241A"/>
          </a:solidFill>
          <a:ln w="10080">
            <a:solidFill>
              <a:srgbClr val="46D07E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846000" y="4374000"/>
            <a:ext cx="7524000" cy="41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150" b="1" u="none" strike="noStrike">
                <a:solidFill>
                  <a:srgbClr val="46D07E"/>
                </a:solidFill>
                <a:effectLst/>
                <a:uFillTx/>
                <a:latin typeface="Arial"/>
              </a:rPr>
              <a:t>✓ Checkpoint 2 - four images become ten scores each. Expect (4, 784) -&gt; (4, 10).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7704000" y="4801680"/>
            <a:ext cx="1152000" cy="19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r"/>
            <a:r>
              <a:rPr lang="en-US" sz="95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07 / 15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"/>
          <p:cNvSpPr/>
          <p:nvPr/>
        </p:nvSpPr>
        <p:spPr>
          <a:xfrm>
            <a:off x="630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"/>
          <p:cNvSpPr/>
          <p:nvPr/>
        </p:nvSpPr>
        <p:spPr>
          <a:xfrm>
            <a:off x="702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"/>
          <p:cNvSpPr/>
          <p:nvPr/>
        </p:nvSpPr>
        <p:spPr>
          <a:xfrm>
            <a:off x="630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"/>
          <p:cNvSpPr/>
          <p:nvPr/>
        </p:nvSpPr>
        <p:spPr>
          <a:xfrm>
            <a:off x="702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"/>
          <p:cNvSpPr/>
          <p:nvPr/>
        </p:nvSpPr>
        <p:spPr>
          <a:xfrm>
            <a:off x="774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"/>
          <p:cNvSpPr/>
          <p:nvPr/>
        </p:nvSpPr>
        <p:spPr>
          <a:xfrm>
            <a:off x="702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"/>
          <p:cNvSpPr/>
          <p:nvPr/>
        </p:nvSpPr>
        <p:spPr>
          <a:xfrm>
            <a:off x="774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1044000" y="309600"/>
            <a:ext cx="72000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150" b="0" u="none" spc="170" strike="noStrike">
                <a:solidFill>
                  <a:srgbClr val="46D07E"/>
                </a:solidFill>
                <a:effectLst/>
                <a:uFillTx/>
                <a:latin typeface="Arial"/>
              </a:rPr>
              <a:t>READING THE RESULT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630000" y="702000"/>
            <a:ext cx="6300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32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Ten scores, one guess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"/>
          <p:cNvSpPr/>
          <p:nvPr/>
        </p:nvSpPr>
        <p:spPr>
          <a:xfrm>
            <a:off x="630000" y="1872000"/>
            <a:ext cx="2412000" cy="1656000"/>
          </a:xfrm>
          <a:prstGeom prst="rect">
            <a:avLst/>
          </a:prstGeom>
          <a:solidFill>
            <a:srgbClr val="0A0C12"/>
          </a:solidFill>
          <a:ln w="9360">
            <a:solidFill>
              <a:srgbClr val="272C38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756000" y="1972800"/>
            <a:ext cx="2196000" cy="2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300" b="1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01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630000" y="2368800"/>
            <a:ext cx="2412000" cy="43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1700" b="1" u="none" strike="noStrike">
                <a:solidFill>
                  <a:srgbClr val="8B80F9"/>
                </a:solidFill>
                <a:effectLst/>
                <a:uFillTx/>
                <a:latin typeface="Arial"/>
              </a:rPr>
              <a:t>argmax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630000" y="3114000"/>
            <a:ext cx="2412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largest score = the guess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"/>
          <p:cNvSpPr/>
          <p:nvPr/>
        </p:nvSpPr>
        <p:spPr>
          <a:xfrm>
            <a:off x="3330000" y="1872000"/>
            <a:ext cx="2412000" cy="1656000"/>
          </a:xfrm>
          <a:prstGeom prst="rect">
            <a:avLst/>
          </a:prstGeom>
          <a:solidFill>
            <a:srgbClr val="0A0C12"/>
          </a:solidFill>
          <a:ln w="9360">
            <a:solidFill>
              <a:srgbClr val="272C38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3456000" y="1972800"/>
            <a:ext cx="2196000" cy="2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300" b="1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02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3330000" y="2368800"/>
            <a:ext cx="2412000" cy="43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1700" b="1" u="none" strike="noStrike">
                <a:solidFill>
                  <a:srgbClr val="8B80F9"/>
                </a:solidFill>
                <a:effectLst/>
                <a:uFillTx/>
                <a:latin typeface="Arial"/>
              </a:rPr>
              <a:t>logit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3330000" y="3114000"/>
            <a:ext cx="2412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the name for one raw score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"/>
          <p:cNvSpPr/>
          <p:nvPr/>
        </p:nvSpPr>
        <p:spPr>
          <a:xfrm>
            <a:off x="6030000" y="1872000"/>
            <a:ext cx="2412000" cy="1656000"/>
          </a:xfrm>
          <a:prstGeom prst="rect">
            <a:avLst/>
          </a:prstGeom>
          <a:solidFill>
            <a:srgbClr val="0A0C12"/>
          </a:solidFill>
          <a:ln w="9360">
            <a:solidFill>
              <a:srgbClr val="272C38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6156000" y="1972800"/>
            <a:ext cx="2196000" cy="2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300" b="1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03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6030000" y="2368800"/>
            <a:ext cx="2412000" cy="43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1600" b="1" u="none" strike="noStrike">
                <a:solidFill>
                  <a:srgbClr val="8B80F9"/>
                </a:solidFill>
                <a:effectLst/>
                <a:uFillTx/>
                <a:latin typeface="Arial"/>
              </a:rPr>
              <a:t>softmax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6030000" y="3114000"/>
            <a:ext cx="2412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scores into probabilities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630000" y="3816000"/>
            <a:ext cx="7920000" cy="32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250" b="0" i="1" u="none" strike="noStrike">
                <a:solidFill>
                  <a:srgbClr val="5A9DFF"/>
                </a:solidFill>
                <a:effectLst/>
                <a:uFillTx/>
                <a:latin typeface="Arial"/>
              </a:rPr>
              <a:t>Same guess with or without softmax - biggest score wins. We never need it to train.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"/>
          <p:cNvSpPr/>
          <p:nvPr/>
        </p:nvSpPr>
        <p:spPr>
          <a:xfrm>
            <a:off x="630000" y="4104000"/>
            <a:ext cx="7884000" cy="540000"/>
          </a:xfrm>
          <a:prstGeom prst="rect">
            <a:avLst/>
          </a:prstGeom>
          <a:solidFill>
            <a:srgbClr val="241E0C"/>
          </a:solidFill>
          <a:ln w="12600">
            <a:solidFill>
              <a:srgbClr val="F5B301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"/>
          <p:cNvSpPr/>
          <p:nvPr/>
        </p:nvSpPr>
        <p:spPr>
          <a:xfrm>
            <a:off x="828000" y="4222800"/>
            <a:ext cx="302400" cy="302400"/>
          </a:xfrm>
          <a:prstGeom prst="ellipse">
            <a:avLst/>
          </a:prstGeom>
          <a:solidFill>
            <a:srgbClr val="F5B30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828000" y="4222800"/>
            <a:ext cx="302400" cy="30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1600" b="1" u="none" strike="noStrike">
                <a:solidFill>
                  <a:srgbClr val="0E1119"/>
                </a:solidFill>
                <a:effectLst/>
                <a:uFillTx/>
                <a:latin typeface="Arial"/>
              </a:rPr>
              <a:t>!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1332000" y="4212000"/>
            <a:ext cx="6984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25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Cross-entropy compares all ten scores with the correct digit - that becomes the loss.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7704000" y="4801680"/>
            <a:ext cx="1152000" cy="19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r"/>
            <a:r>
              <a:rPr lang="en-US" sz="95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08 / 15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"/>
          <p:cNvSpPr/>
          <p:nvPr/>
        </p:nvSpPr>
        <p:spPr>
          <a:xfrm>
            <a:off x="630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"/>
          <p:cNvSpPr/>
          <p:nvPr/>
        </p:nvSpPr>
        <p:spPr>
          <a:xfrm>
            <a:off x="702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"/>
          <p:cNvSpPr/>
          <p:nvPr/>
        </p:nvSpPr>
        <p:spPr>
          <a:xfrm>
            <a:off x="630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"/>
          <p:cNvSpPr/>
          <p:nvPr/>
        </p:nvSpPr>
        <p:spPr>
          <a:xfrm>
            <a:off x="702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"/>
          <p:cNvSpPr/>
          <p:nvPr/>
        </p:nvSpPr>
        <p:spPr>
          <a:xfrm>
            <a:off x="774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"/>
          <p:cNvSpPr/>
          <p:nvPr/>
        </p:nvSpPr>
        <p:spPr>
          <a:xfrm>
            <a:off x="702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"/>
          <p:cNvSpPr/>
          <p:nvPr/>
        </p:nvSpPr>
        <p:spPr>
          <a:xfrm>
            <a:off x="774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1044000" y="309600"/>
            <a:ext cx="72000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150" b="0" u="none" spc="170" strike="noStrike">
                <a:solidFill>
                  <a:srgbClr val="46D07E"/>
                </a:solidFill>
                <a:effectLst/>
                <a:uFillTx/>
                <a:latin typeface="Arial"/>
              </a:rPr>
              <a:t>LIVE BUILD · DATA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630000" y="702000"/>
            <a:ext cx="3240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32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Load MNIST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"/>
          <p:cNvSpPr/>
          <p:nvPr/>
        </p:nvSpPr>
        <p:spPr>
          <a:xfrm>
            <a:off x="3744000" y="972000"/>
            <a:ext cx="4770000" cy="2592000"/>
          </a:xfrm>
          <a:prstGeom prst="rect">
            <a:avLst/>
          </a:prstGeom>
          <a:solidFill>
            <a:srgbClr val="0A0C12"/>
          </a:solidFill>
          <a:ln w="9360">
            <a:solidFill>
              <a:srgbClr val="272C38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3924000" y="1134000"/>
            <a:ext cx="4410000" cy="230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train = torchvision.datasets.MNIST(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root="./data", train=True, download=True)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test = torchvision.datasets.MNIST(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root="./data", train=False, download=True)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x = train.data.float().view(-1, 784) / 255.0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target = train.targets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x_test = test.data.float().view(-1, 784) / 255.0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target_test = test.targets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"/>
          <p:cNvSpPr/>
          <p:nvPr/>
        </p:nvSpPr>
        <p:spPr>
          <a:xfrm>
            <a:off x="630000" y="1656000"/>
            <a:ext cx="3024000" cy="1735200"/>
          </a:xfrm>
          <a:prstGeom prst="rect">
            <a:avLst/>
          </a:prstGeom>
          <a:solidFill>
            <a:srgbClr val="1A1836"/>
          </a:solidFill>
          <a:ln w="10800">
            <a:solidFill>
              <a:srgbClr val="8B80F9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828000" y="1807200"/>
            <a:ext cx="2628000" cy="1483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050" b="1" u="none" spc="142" strike="noStrike">
                <a:solidFill>
                  <a:srgbClr val="8B80F9"/>
                </a:solidFill>
                <a:effectLst/>
                <a:uFillTx/>
                <a:latin typeface="Arial"/>
              </a:rPr>
              <a:t>READ IT AS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Learn on one set,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test on a separate set.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Flatten to 784,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scale 0-255 to 0-1,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keep each digit as the target.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7704000" y="4801680"/>
            <a:ext cx="1152000" cy="19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r"/>
            <a:r>
              <a:rPr lang="en-US" sz="95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09 / 15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"/>
          <p:cNvSpPr/>
          <p:nvPr/>
        </p:nvSpPr>
        <p:spPr>
          <a:xfrm>
            <a:off x="630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"/>
          <p:cNvSpPr/>
          <p:nvPr/>
        </p:nvSpPr>
        <p:spPr>
          <a:xfrm>
            <a:off x="702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"/>
          <p:cNvSpPr/>
          <p:nvPr/>
        </p:nvSpPr>
        <p:spPr>
          <a:xfrm>
            <a:off x="630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"/>
          <p:cNvSpPr/>
          <p:nvPr/>
        </p:nvSpPr>
        <p:spPr>
          <a:xfrm>
            <a:off x="702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"/>
          <p:cNvSpPr/>
          <p:nvPr/>
        </p:nvSpPr>
        <p:spPr>
          <a:xfrm>
            <a:off x="774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"/>
          <p:cNvSpPr/>
          <p:nvPr/>
        </p:nvSpPr>
        <p:spPr>
          <a:xfrm>
            <a:off x="702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"/>
          <p:cNvSpPr/>
          <p:nvPr/>
        </p:nvSpPr>
        <p:spPr>
          <a:xfrm>
            <a:off x="774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1044000" y="309600"/>
            <a:ext cx="72000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150" b="0" u="none" spc="170" strike="noStrike">
                <a:solidFill>
                  <a:srgbClr val="46D07E"/>
                </a:solidFill>
                <a:effectLst/>
                <a:uFillTx/>
                <a:latin typeface="Arial"/>
              </a:rPr>
              <a:t>MEASURE, THEN WALK BACK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630000" y="702000"/>
            <a:ext cx="6300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30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One number, then every gradient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630000" y="1548000"/>
            <a:ext cx="7920000" cy="28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35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loss = cross_entropy(prediction, target) is high when the right digit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35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scores poorly, low when it wins - the single signal learning reduces.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35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loss.backward() walks the recorded operations in reverse and reports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35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how each weight contributed to the error.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"/>
          <p:cNvSpPr/>
          <p:nvPr/>
        </p:nvSpPr>
        <p:spPr>
          <a:xfrm>
            <a:off x="630000" y="3204000"/>
            <a:ext cx="7884000" cy="504000"/>
          </a:xfrm>
          <a:prstGeom prst="rect">
            <a:avLst/>
          </a:prstGeom>
          <a:solidFill>
            <a:srgbClr val="0A0C12"/>
          </a:solidFill>
          <a:ln w="9360">
            <a:solidFill>
              <a:srgbClr val="272C38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810000" y="3366000"/>
            <a:ext cx="7524000" cy="2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20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loss &lt;- scores &lt;- layers &lt;- every weight and bias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"/>
          <p:cNvSpPr/>
          <p:nvPr/>
        </p:nvSpPr>
        <p:spPr>
          <a:xfrm>
            <a:off x="630000" y="3852000"/>
            <a:ext cx="7884000" cy="576000"/>
          </a:xfrm>
          <a:prstGeom prst="rect">
            <a:avLst/>
          </a:prstGeom>
          <a:solidFill>
            <a:srgbClr val="241E0C"/>
          </a:solidFill>
          <a:ln w="12600">
            <a:solidFill>
              <a:srgbClr val="F5B301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"/>
          <p:cNvSpPr/>
          <p:nvPr/>
        </p:nvSpPr>
        <p:spPr>
          <a:xfrm>
            <a:off x="828000" y="3988800"/>
            <a:ext cx="302400" cy="302400"/>
          </a:xfrm>
          <a:prstGeom prst="ellipse">
            <a:avLst/>
          </a:prstGeom>
          <a:solidFill>
            <a:srgbClr val="F5B30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828000" y="3988800"/>
            <a:ext cx="302400" cy="30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1600" b="1" u="none" strike="noStrike">
                <a:solidFill>
                  <a:srgbClr val="0E1119"/>
                </a:solidFill>
                <a:effectLst/>
                <a:uFillTx/>
                <a:latin typeface="Arial"/>
              </a:rPr>
              <a:t>!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1332000" y="3960000"/>
            <a:ext cx="6984000" cy="39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25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A gradient is a direction: changing this value that way would raise the loss.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7704000" y="4801680"/>
            <a:ext cx="1152000" cy="19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r"/>
            <a:r>
              <a:rPr lang="en-US" sz="95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10 / 15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"/>
          <p:cNvSpPr/>
          <p:nvPr/>
        </p:nvSpPr>
        <p:spPr>
          <a:xfrm>
            <a:off x="630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"/>
          <p:cNvSpPr/>
          <p:nvPr/>
        </p:nvSpPr>
        <p:spPr>
          <a:xfrm>
            <a:off x="702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"/>
          <p:cNvSpPr/>
          <p:nvPr/>
        </p:nvSpPr>
        <p:spPr>
          <a:xfrm>
            <a:off x="630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>
            <a:off x="702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"/>
          <p:cNvSpPr/>
          <p:nvPr/>
        </p:nvSpPr>
        <p:spPr>
          <a:xfrm>
            <a:off x="774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"/>
          <p:cNvSpPr/>
          <p:nvPr/>
        </p:nvSpPr>
        <p:spPr>
          <a:xfrm>
            <a:off x="702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"/>
          <p:cNvSpPr/>
          <p:nvPr/>
        </p:nvSpPr>
        <p:spPr>
          <a:xfrm>
            <a:off x="774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1044000" y="309600"/>
            <a:ext cx="72000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150" b="0" u="none" spc="170" strike="noStrike">
                <a:solidFill>
                  <a:srgbClr val="46D07E"/>
                </a:solidFill>
                <a:effectLst/>
                <a:uFillTx/>
                <a:latin typeface="Arial"/>
              </a:rPr>
              <a:t>LIVE BUILD · UPDATE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630000" y="702000"/>
            <a:ext cx="3600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29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One small step, then clear</a:t>
            </a:r>
            <a:endParaRPr lang="en-US" sz="2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"/>
          <p:cNvSpPr/>
          <p:nvPr/>
        </p:nvSpPr>
        <p:spPr>
          <a:xfrm>
            <a:off x="3744000" y="972000"/>
            <a:ext cx="4770000" cy="1908000"/>
          </a:xfrm>
          <a:prstGeom prst="rect">
            <a:avLst/>
          </a:prstGeom>
          <a:solidFill>
            <a:srgbClr val="0A0C12"/>
          </a:solidFill>
          <a:ln w="9360">
            <a:solidFill>
              <a:srgbClr val="272C38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3924000" y="1134000"/>
            <a:ext cx="4410000" cy="16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loss.backward()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with torch.no_grad():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for parameter in model.parameters():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    parameter -= learning_rate * parameter.grad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for parameter in model.parameters():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    parameter.grad.zero_()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"/>
          <p:cNvSpPr/>
          <p:nvPr/>
        </p:nvSpPr>
        <p:spPr>
          <a:xfrm>
            <a:off x="3744000" y="3024000"/>
            <a:ext cx="4770000" cy="1512000"/>
          </a:xfrm>
          <a:prstGeom prst="rect">
            <a:avLst/>
          </a:prstGeom>
          <a:solidFill>
            <a:srgbClr val="1A1836"/>
          </a:solidFill>
          <a:ln w="10800">
            <a:solidFill>
              <a:srgbClr val="8B80F9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3942000" y="3175200"/>
            <a:ext cx="4374000" cy="12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050" b="1" u="none" spc="142" strike="noStrike">
                <a:solidFill>
                  <a:srgbClr val="8B80F9"/>
                </a:solidFill>
                <a:effectLst/>
                <a:uFillTx/>
                <a:latin typeface="Arial"/>
              </a:rPr>
              <a:t>READ IT AS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Step opposite the gradient, a little.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no_grad(): this is the change itself.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Clear the grads, or the next round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mixes old directions with new.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630000" y="1584000"/>
            <a:ext cx="2952000" cy="237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25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Each gradient points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toward more error,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so subtract a little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of it from each weight.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"/>
          <p:cNvSpPr/>
          <p:nvPr/>
        </p:nvSpPr>
        <p:spPr>
          <a:xfrm>
            <a:off x="630000" y="4374000"/>
            <a:ext cx="7884000" cy="414000"/>
          </a:xfrm>
          <a:prstGeom prst="rect">
            <a:avLst/>
          </a:prstGeom>
          <a:solidFill>
            <a:srgbClr val="10241A"/>
          </a:solidFill>
          <a:ln w="10080">
            <a:solidFill>
              <a:srgbClr val="46D07E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846000" y="4374000"/>
            <a:ext cx="7524000" cy="41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150" b="1" u="none" strike="noStrike">
                <a:solidFill>
                  <a:srgbClr val="46D07E"/>
                </a:solidFill>
                <a:effectLst/>
                <a:uFillTx/>
                <a:latin typeface="Arial"/>
              </a:rPr>
              <a:t>✓ Checkpoint 3 - one manual step makes a fixed problem's loss smaller.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7704000" y="4801680"/>
            <a:ext cx="1152000" cy="19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r"/>
            <a:r>
              <a:rPr lang="en-US" sz="95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11 / 15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"/>
          <p:cNvSpPr/>
          <p:nvPr/>
        </p:nvSpPr>
        <p:spPr>
          <a:xfrm>
            <a:off x="630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"/>
          <p:cNvSpPr/>
          <p:nvPr/>
        </p:nvSpPr>
        <p:spPr>
          <a:xfrm>
            <a:off x="702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"/>
          <p:cNvSpPr/>
          <p:nvPr/>
        </p:nvSpPr>
        <p:spPr>
          <a:xfrm>
            <a:off x="630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"/>
          <p:cNvSpPr/>
          <p:nvPr/>
        </p:nvSpPr>
        <p:spPr>
          <a:xfrm>
            <a:off x="702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"/>
          <p:cNvSpPr/>
          <p:nvPr/>
        </p:nvSpPr>
        <p:spPr>
          <a:xfrm>
            <a:off x="774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"/>
          <p:cNvSpPr/>
          <p:nvPr/>
        </p:nvSpPr>
        <p:spPr>
          <a:xfrm>
            <a:off x="702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"/>
          <p:cNvSpPr/>
          <p:nvPr/>
        </p:nvSpPr>
        <p:spPr>
          <a:xfrm>
            <a:off x="774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1044000" y="309600"/>
            <a:ext cx="72000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150" b="0" u="none" spc="170" strike="noStrike">
                <a:solidFill>
                  <a:srgbClr val="46D07E"/>
                </a:solidFill>
                <a:effectLst/>
                <a:uFillTx/>
                <a:latin typeface="Arial"/>
              </a:rPr>
              <a:t>THE CODE IS THE LOOP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630000" y="702000"/>
            <a:ext cx="6300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32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Nothing is hidden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"/>
          <p:cNvSpPr/>
          <p:nvPr/>
        </p:nvSpPr>
        <p:spPr>
          <a:xfrm>
            <a:off x="630000" y="1404000"/>
            <a:ext cx="1375200" cy="900000"/>
          </a:xfrm>
          <a:prstGeom prst="rect">
            <a:avLst/>
          </a:prstGeom>
          <a:solidFill>
            <a:srgbClr val="1A1836"/>
          </a:solidFill>
          <a:ln w="9360">
            <a:solidFill>
              <a:srgbClr val="8B80F9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738000" y="1494000"/>
            <a:ext cx="1195200" cy="2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100" b="1" u="none" strike="noStrike">
                <a:solidFill>
                  <a:srgbClr val="8B80F9"/>
                </a:solidFill>
                <a:effectLst/>
                <a:uFillTx/>
                <a:latin typeface="Arial"/>
              </a:rPr>
              <a:t>1 ✓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630000" y="1746000"/>
            <a:ext cx="1375200" cy="2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13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Forward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630000" y="1980000"/>
            <a:ext cx="13752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90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make a guess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2005200" y="1404000"/>
            <a:ext cx="252000" cy="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1500" b="1" u="none" strike="noStrike">
                <a:solidFill>
                  <a:srgbClr val="8B80F9"/>
                </a:solidFill>
                <a:effectLst/>
                <a:uFillTx/>
                <a:latin typeface="Arial"/>
              </a:rPr>
              <a:t>→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"/>
          <p:cNvSpPr/>
          <p:nvPr/>
        </p:nvSpPr>
        <p:spPr>
          <a:xfrm>
            <a:off x="2257200" y="1404000"/>
            <a:ext cx="1375200" cy="900000"/>
          </a:xfrm>
          <a:prstGeom prst="rect">
            <a:avLst/>
          </a:prstGeom>
          <a:solidFill>
            <a:srgbClr val="1A1836"/>
          </a:solidFill>
          <a:ln w="9360">
            <a:solidFill>
              <a:srgbClr val="8B80F9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2365200" y="1494000"/>
            <a:ext cx="1195200" cy="2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100" b="1" u="none" strike="noStrike">
                <a:solidFill>
                  <a:srgbClr val="8B80F9"/>
                </a:solidFill>
                <a:effectLst/>
                <a:uFillTx/>
                <a:latin typeface="Arial"/>
              </a:rPr>
              <a:t>2 ✓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2257200" y="1746000"/>
            <a:ext cx="1375200" cy="2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13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Loss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2257200" y="1980000"/>
            <a:ext cx="13752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90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measure wrongness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3632400" y="1404000"/>
            <a:ext cx="252000" cy="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1500" b="1" u="none" strike="noStrike">
                <a:solidFill>
                  <a:srgbClr val="8B80F9"/>
                </a:solidFill>
                <a:effectLst/>
                <a:uFillTx/>
                <a:latin typeface="Arial"/>
              </a:rPr>
              <a:t>→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"/>
          <p:cNvSpPr/>
          <p:nvPr/>
        </p:nvSpPr>
        <p:spPr>
          <a:xfrm>
            <a:off x="3884400" y="1404000"/>
            <a:ext cx="1375200" cy="900000"/>
          </a:xfrm>
          <a:prstGeom prst="rect">
            <a:avLst/>
          </a:prstGeom>
          <a:solidFill>
            <a:srgbClr val="1A1836"/>
          </a:solidFill>
          <a:ln w="9360">
            <a:solidFill>
              <a:srgbClr val="8B80F9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3992400" y="1494000"/>
            <a:ext cx="1195200" cy="2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100" b="1" u="none" strike="noStrike">
                <a:solidFill>
                  <a:srgbClr val="8B80F9"/>
                </a:solidFill>
                <a:effectLst/>
                <a:uFillTx/>
                <a:latin typeface="Arial"/>
              </a:rPr>
              <a:t>3 ✓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3884400" y="1746000"/>
            <a:ext cx="1375200" cy="2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13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Backprop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3884400" y="1980000"/>
            <a:ext cx="13752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90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find gradients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5259600" y="1404000"/>
            <a:ext cx="252000" cy="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1500" b="1" u="none" strike="noStrike">
                <a:solidFill>
                  <a:srgbClr val="8B80F9"/>
                </a:solidFill>
                <a:effectLst/>
                <a:uFillTx/>
                <a:latin typeface="Arial"/>
              </a:rPr>
              <a:t>→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"/>
          <p:cNvSpPr/>
          <p:nvPr/>
        </p:nvSpPr>
        <p:spPr>
          <a:xfrm>
            <a:off x="5511600" y="1404000"/>
            <a:ext cx="1375200" cy="900000"/>
          </a:xfrm>
          <a:prstGeom prst="rect">
            <a:avLst/>
          </a:prstGeom>
          <a:solidFill>
            <a:srgbClr val="1A1836"/>
          </a:solidFill>
          <a:ln w="9360">
            <a:solidFill>
              <a:srgbClr val="8B80F9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5619600" y="1494000"/>
            <a:ext cx="1195200" cy="2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100" b="1" u="none" strike="noStrike">
                <a:solidFill>
                  <a:srgbClr val="8B80F9"/>
                </a:solidFill>
                <a:effectLst/>
                <a:uFillTx/>
                <a:latin typeface="Arial"/>
              </a:rPr>
              <a:t>4 ✓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5511600" y="1746000"/>
            <a:ext cx="1375200" cy="2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13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Update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5511600" y="1980000"/>
            <a:ext cx="13752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90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change weights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6886800" y="1404000"/>
            <a:ext cx="252000" cy="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1500" b="1" u="none" strike="noStrike">
                <a:solidFill>
                  <a:srgbClr val="8B80F9"/>
                </a:solidFill>
                <a:effectLst/>
                <a:uFillTx/>
                <a:latin typeface="Arial"/>
              </a:rPr>
              <a:t>→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"/>
          <p:cNvSpPr/>
          <p:nvPr/>
        </p:nvSpPr>
        <p:spPr>
          <a:xfrm>
            <a:off x="7138800" y="1404000"/>
            <a:ext cx="1375200" cy="900000"/>
          </a:xfrm>
          <a:prstGeom prst="rect">
            <a:avLst/>
          </a:prstGeom>
          <a:solidFill>
            <a:srgbClr val="1A1836"/>
          </a:solidFill>
          <a:ln w="9360">
            <a:solidFill>
              <a:srgbClr val="8B80F9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7246800" y="1494000"/>
            <a:ext cx="1195200" cy="2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100" b="1" u="none" strike="noStrike">
                <a:solidFill>
                  <a:srgbClr val="8B80F9"/>
                </a:solidFill>
                <a:effectLst/>
                <a:uFillTx/>
                <a:latin typeface="Arial"/>
              </a:rPr>
              <a:t>5 ✓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7138800" y="1746000"/>
            <a:ext cx="1375200" cy="2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13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Repeat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7138800" y="1980000"/>
            <a:ext cx="13752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90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try again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"/>
          <p:cNvSpPr/>
          <p:nvPr/>
        </p:nvSpPr>
        <p:spPr>
          <a:xfrm>
            <a:off x="630000" y="2592000"/>
            <a:ext cx="7884000" cy="1584000"/>
          </a:xfrm>
          <a:prstGeom prst="rect">
            <a:avLst/>
          </a:prstGeom>
          <a:solidFill>
            <a:srgbClr val="0A0C12"/>
          </a:solidFill>
          <a:ln w="9360">
            <a:solidFill>
              <a:srgbClr val="272C38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810000" y="2754000"/>
            <a:ext cx="7524000" cy="129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prediction = model.forward(x) # 1 forward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loss = cross_entropy(prediction, target) # 2 loss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loss.backward() # 3 backprop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parameter -= learning_rate * parameter.grad # 4 update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9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parameter.grad.zero_() # 5 repeat -&gt; next epoch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7704000" y="4801680"/>
            <a:ext cx="1152000" cy="19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r"/>
            <a:r>
              <a:rPr lang="en-US" sz="95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12 / 15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"/>
          <p:cNvSpPr/>
          <p:nvPr/>
        </p:nvSpPr>
        <p:spPr>
          <a:xfrm>
            <a:off x="630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"/>
          <p:cNvSpPr/>
          <p:nvPr/>
        </p:nvSpPr>
        <p:spPr>
          <a:xfrm>
            <a:off x="702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"/>
          <p:cNvSpPr/>
          <p:nvPr/>
        </p:nvSpPr>
        <p:spPr>
          <a:xfrm>
            <a:off x="630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"/>
          <p:cNvSpPr/>
          <p:nvPr/>
        </p:nvSpPr>
        <p:spPr>
          <a:xfrm>
            <a:off x="702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"/>
          <p:cNvSpPr/>
          <p:nvPr/>
        </p:nvSpPr>
        <p:spPr>
          <a:xfrm>
            <a:off x="774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"/>
          <p:cNvSpPr/>
          <p:nvPr/>
        </p:nvSpPr>
        <p:spPr>
          <a:xfrm>
            <a:off x="702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"/>
          <p:cNvSpPr/>
          <p:nvPr/>
        </p:nvSpPr>
        <p:spPr>
          <a:xfrm>
            <a:off x="774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1044000" y="309600"/>
            <a:ext cx="72000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150" b="0" u="none" spc="170" strike="noStrike">
                <a:solidFill>
                  <a:srgbClr val="46D07E"/>
                </a:solidFill>
                <a:effectLst/>
                <a:uFillTx/>
                <a:latin typeface="Arial"/>
              </a:rPr>
              <a:t>WATCH IT LEARN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630000" y="702000"/>
            <a:ext cx="6300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32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Ten rounds, then sixty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"/>
          <p:cNvSpPr/>
          <p:nvPr/>
        </p:nvSpPr>
        <p:spPr>
          <a:xfrm>
            <a:off x="630000" y="1656000"/>
            <a:ext cx="2459880" cy="1368000"/>
          </a:xfrm>
          <a:prstGeom prst="rect">
            <a:avLst/>
          </a:prstGeom>
          <a:solidFill>
            <a:srgbClr val="0A0C12"/>
          </a:solidFill>
          <a:ln w="9360">
            <a:solidFill>
              <a:srgbClr val="272C38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630000" y="1980000"/>
            <a:ext cx="2459880" cy="68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3300" b="1" u="none" strike="noStrike">
                <a:solidFill>
                  <a:srgbClr val="F5B301"/>
                </a:solidFill>
                <a:effectLst/>
                <a:uFillTx/>
                <a:latin typeface="Arial"/>
              </a:rPr>
              <a:t>~2.48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630000" y="2484000"/>
            <a:ext cx="2459880" cy="39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110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starting loss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"/>
          <p:cNvSpPr/>
          <p:nvPr/>
        </p:nvSpPr>
        <p:spPr>
          <a:xfrm>
            <a:off x="3341880" y="1656000"/>
            <a:ext cx="2459880" cy="1368000"/>
          </a:xfrm>
          <a:prstGeom prst="rect">
            <a:avLst/>
          </a:prstGeom>
          <a:solidFill>
            <a:srgbClr val="0A0C12"/>
          </a:solidFill>
          <a:ln w="9360">
            <a:solidFill>
              <a:srgbClr val="272C38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3341880" y="1980000"/>
            <a:ext cx="2459880" cy="68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3300" b="1" u="none" strike="noStrike">
                <a:solidFill>
                  <a:srgbClr val="F5B301"/>
                </a:solidFill>
                <a:effectLst/>
                <a:uFillTx/>
                <a:latin typeface="Arial"/>
              </a:rPr>
              <a:t>~1.69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3341880" y="2484000"/>
            <a:ext cx="2459880" cy="39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110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loss after 10 epochs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9" name=""/>
          <p:cNvSpPr/>
          <p:nvPr/>
        </p:nvSpPr>
        <p:spPr>
          <a:xfrm>
            <a:off x="6054120" y="1656000"/>
            <a:ext cx="2459880" cy="1368000"/>
          </a:xfrm>
          <a:prstGeom prst="rect">
            <a:avLst/>
          </a:prstGeom>
          <a:solidFill>
            <a:srgbClr val="0A0C12"/>
          </a:solidFill>
          <a:ln w="9360">
            <a:solidFill>
              <a:srgbClr val="272C38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6054120" y="1980000"/>
            <a:ext cx="2459880" cy="68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3300" b="1" u="none" strike="noStrike">
                <a:solidFill>
                  <a:srgbClr val="F5B301"/>
                </a:solidFill>
                <a:effectLst/>
                <a:uFillTx/>
                <a:latin typeface="Arial"/>
              </a:rPr>
              <a:t>~65%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6054120" y="2484000"/>
            <a:ext cx="2459880" cy="39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110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test accuracy at 10 epochs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"/>
          <p:cNvSpPr/>
          <p:nvPr/>
        </p:nvSpPr>
        <p:spPr>
          <a:xfrm>
            <a:off x="630000" y="3204000"/>
            <a:ext cx="7884000" cy="540000"/>
          </a:xfrm>
          <a:prstGeom prst="rect">
            <a:avLst/>
          </a:prstGeom>
          <a:solidFill>
            <a:srgbClr val="241E0C"/>
          </a:solidFill>
          <a:ln w="12600">
            <a:solidFill>
              <a:srgbClr val="F5B301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"/>
          <p:cNvSpPr/>
          <p:nvPr/>
        </p:nvSpPr>
        <p:spPr>
          <a:xfrm>
            <a:off x="828000" y="3322800"/>
            <a:ext cx="302400" cy="302400"/>
          </a:xfrm>
          <a:prstGeom prst="ellipse">
            <a:avLst/>
          </a:prstGeom>
          <a:solidFill>
            <a:srgbClr val="F5B30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828000" y="3322800"/>
            <a:ext cx="302400" cy="30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1600" b="1" u="none" strike="noStrike">
                <a:solidFill>
                  <a:srgbClr val="0E1119"/>
                </a:solidFill>
                <a:effectLst/>
                <a:uFillTx/>
                <a:latin typeface="Arial"/>
              </a:rPr>
              <a:t>!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1332000" y="3312000"/>
            <a:ext cx="6984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25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Change epochs 10 -&gt; 60: loss ~0.48, test accuracy ~88%. Same network, more rounds.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630000" y="3924000"/>
            <a:ext cx="7920000" cy="32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250" b="0" i="1" u="none" strike="noStrike">
                <a:solidFill>
                  <a:srgbClr val="5A9DFF"/>
                </a:solidFill>
                <a:effectLst/>
                <a:uFillTx/>
                <a:latin typeface="Arial"/>
              </a:rPr>
              <a:t>Blind guessing is 10%. Read the trend, not one exact number: loss down, accuracy up.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630000" y="4734000"/>
            <a:ext cx="79200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000" b="0" i="1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Illustrative seeded output - facilitator, use the numbers you measured on the event machine.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7704000" y="4801680"/>
            <a:ext cx="1152000" cy="19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r"/>
            <a:r>
              <a:rPr lang="en-US" sz="95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13 / 15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"/>
          <p:cNvSpPr/>
          <p:nvPr/>
        </p:nvSpPr>
        <p:spPr>
          <a:xfrm>
            <a:off x="630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"/>
          <p:cNvSpPr/>
          <p:nvPr/>
        </p:nvSpPr>
        <p:spPr>
          <a:xfrm>
            <a:off x="702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"/>
          <p:cNvSpPr/>
          <p:nvPr/>
        </p:nvSpPr>
        <p:spPr>
          <a:xfrm>
            <a:off x="630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"/>
          <p:cNvSpPr/>
          <p:nvPr/>
        </p:nvSpPr>
        <p:spPr>
          <a:xfrm>
            <a:off x="702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"/>
          <p:cNvSpPr/>
          <p:nvPr/>
        </p:nvSpPr>
        <p:spPr>
          <a:xfrm>
            <a:off x="774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"/>
          <p:cNvSpPr/>
          <p:nvPr/>
        </p:nvSpPr>
        <p:spPr>
          <a:xfrm>
            <a:off x="702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"/>
          <p:cNvSpPr/>
          <p:nvPr/>
        </p:nvSpPr>
        <p:spPr>
          <a:xfrm>
            <a:off x="774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1044000" y="309600"/>
            <a:ext cx="72000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150" b="0" u="none" spc="170" strike="noStrike">
                <a:solidFill>
                  <a:srgbClr val="46D07E"/>
                </a:solidFill>
                <a:effectLst/>
                <a:uFillTx/>
                <a:latin typeface="Arial"/>
              </a:rPr>
              <a:t>BE HONEST ABOUT THE MODEL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630000" y="702000"/>
            <a:ext cx="7920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25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It matches pixels - it does not know digits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"/>
          <p:cNvSpPr/>
          <p:nvPr/>
        </p:nvSpPr>
        <p:spPr>
          <a:xfrm>
            <a:off x="630000" y="1656000"/>
            <a:ext cx="3708000" cy="2196000"/>
          </a:xfrm>
          <a:prstGeom prst="rect">
            <a:avLst/>
          </a:prstGeom>
          <a:solidFill>
            <a:srgbClr val="0A0C12"/>
          </a:solidFill>
          <a:ln w="9360">
            <a:solidFill>
              <a:srgbClr val="272C38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"/>
          <p:cNvSpPr/>
          <p:nvPr/>
        </p:nvSpPr>
        <p:spPr>
          <a:xfrm>
            <a:off x="4590000" y="1656000"/>
            <a:ext cx="3708000" cy="2196000"/>
          </a:xfrm>
          <a:prstGeom prst="rect">
            <a:avLst/>
          </a:prstGeom>
          <a:solidFill>
            <a:srgbClr val="0A0C12"/>
          </a:solidFill>
          <a:ln w="9360">
            <a:solidFill>
              <a:srgbClr val="272C38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"/>
          <p:cNvSpPr/>
          <p:nvPr/>
        </p:nvSpPr>
        <p:spPr>
          <a:xfrm>
            <a:off x="1746000" y="18360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"/>
          <p:cNvSpPr/>
          <p:nvPr/>
        </p:nvSpPr>
        <p:spPr>
          <a:xfrm>
            <a:off x="1904400" y="18360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"/>
          <p:cNvSpPr/>
          <p:nvPr/>
        </p:nvSpPr>
        <p:spPr>
          <a:xfrm>
            <a:off x="2062800" y="18360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"/>
          <p:cNvSpPr/>
          <p:nvPr/>
        </p:nvSpPr>
        <p:spPr>
          <a:xfrm>
            <a:off x="2221200" y="18360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"/>
          <p:cNvSpPr/>
          <p:nvPr/>
        </p:nvSpPr>
        <p:spPr>
          <a:xfrm>
            <a:off x="2379600" y="18360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5" name=""/>
          <p:cNvSpPr/>
          <p:nvPr/>
        </p:nvSpPr>
        <p:spPr>
          <a:xfrm>
            <a:off x="2538000" y="18360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"/>
          <p:cNvSpPr/>
          <p:nvPr/>
        </p:nvSpPr>
        <p:spPr>
          <a:xfrm>
            <a:off x="2696400" y="18360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"/>
          <p:cNvSpPr/>
          <p:nvPr/>
        </p:nvSpPr>
        <p:spPr>
          <a:xfrm>
            <a:off x="2854800" y="18360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"/>
          <p:cNvSpPr/>
          <p:nvPr/>
        </p:nvSpPr>
        <p:spPr>
          <a:xfrm>
            <a:off x="1746000" y="19944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"/>
          <p:cNvSpPr/>
          <p:nvPr/>
        </p:nvSpPr>
        <p:spPr>
          <a:xfrm>
            <a:off x="1904400" y="19944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"/>
          <p:cNvSpPr/>
          <p:nvPr/>
        </p:nvSpPr>
        <p:spPr>
          <a:xfrm>
            <a:off x="2062800" y="19944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"/>
          <p:cNvSpPr/>
          <p:nvPr/>
        </p:nvSpPr>
        <p:spPr>
          <a:xfrm>
            <a:off x="2221200" y="19944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"/>
          <p:cNvSpPr/>
          <p:nvPr/>
        </p:nvSpPr>
        <p:spPr>
          <a:xfrm>
            <a:off x="2379600" y="19944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"/>
          <p:cNvSpPr/>
          <p:nvPr/>
        </p:nvSpPr>
        <p:spPr>
          <a:xfrm>
            <a:off x="2538000" y="19944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"/>
          <p:cNvSpPr/>
          <p:nvPr/>
        </p:nvSpPr>
        <p:spPr>
          <a:xfrm>
            <a:off x="2696400" y="19944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"/>
          <p:cNvSpPr/>
          <p:nvPr/>
        </p:nvSpPr>
        <p:spPr>
          <a:xfrm>
            <a:off x="2854800" y="19944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"/>
          <p:cNvSpPr/>
          <p:nvPr/>
        </p:nvSpPr>
        <p:spPr>
          <a:xfrm>
            <a:off x="1746000" y="21528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"/>
          <p:cNvSpPr/>
          <p:nvPr/>
        </p:nvSpPr>
        <p:spPr>
          <a:xfrm>
            <a:off x="1904400" y="21528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"/>
          <p:cNvSpPr/>
          <p:nvPr/>
        </p:nvSpPr>
        <p:spPr>
          <a:xfrm>
            <a:off x="2062800" y="21528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"/>
          <p:cNvSpPr/>
          <p:nvPr/>
        </p:nvSpPr>
        <p:spPr>
          <a:xfrm>
            <a:off x="2221200" y="21528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"/>
          <p:cNvSpPr/>
          <p:nvPr/>
        </p:nvSpPr>
        <p:spPr>
          <a:xfrm>
            <a:off x="2379600" y="21528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"/>
          <p:cNvSpPr/>
          <p:nvPr/>
        </p:nvSpPr>
        <p:spPr>
          <a:xfrm>
            <a:off x="2538000" y="21528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"/>
          <p:cNvSpPr/>
          <p:nvPr/>
        </p:nvSpPr>
        <p:spPr>
          <a:xfrm>
            <a:off x="2696400" y="21528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"/>
          <p:cNvSpPr/>
          <p:nvPr/>
        </p:nvSpPr>
        <p:spPr>
          <a:xfrm>
            <a:off x="2854800" y="21528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"/>
          <p:cNvSpPr/>
          <p:nvPr/>
        </p:nvSpPr>
        <p:spPr>
          <a:xfrm>
            <a:off x="1746000" y="23112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"/>
          <p:cNvSpPr/>
          <p:nvPr/>
        </p:nvSpPr>
        <p:spPr>
          <a:xfrm>
            <a:off x="1904400" y="23112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"/>
          <p:cNvSpPr/>
          <p:nvPr/>
        </p:nvSpPr>
        <p:spPr>
          <a:xfrm>
            <a:off x="2062800" y="23112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"/>
          <p:cNvSpPr/>
          <p:nvPr/>
        </p:nvSpPr>
        <p:spPr>
          <a:xfrm>
            <a:off x="2221200" y="23112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8" name=""/>
          <p:cNvSpPr/>
          <p:nvPr/>
        </p:nvSpPr>
        <p:spPr>
          <a:xfrm>
            <a:off x="2379600" y="23112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"/>
          <p:cNvSpPr/>
          <p:nvPr/>
        </p:nvSpPr>
        <p:spPr>
          <a:xfrm>
            <a:off x="2538000" y="23112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"/>
          <p:cNvSpPr/>
          <p:nvPr/>
        </p:nvSpPr>
        <p:spPr>
          <a:xfrm>
            <a:off x="2696400" y="23112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"/>
          <p:cNvSpPr/>
          <p:nvPr/>
        </p:nvSpPr>
        <p:spPr>
          <a:xfrm>
            <a:off x="2854800" y="23112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"/>
          <p:cNvSpPr/>
          <p:nvPr/>
        </p:nvSpPr>
        <p:spPr>
          <a:xfrm>
            <a:off x="1746000" y="24696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"/>
          <p:cNvSpPr/>
          <p:nvPr/>
        </p:nvSpPr>
        <p:spPr>
          <a:xfrm>
            <a:off x="1904400" y="24696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"/>
          <p:cNvSpPr/>
          <p:nvPr/>
        </p:nvSpPr>
        <p:spPr>
          <a:xfrm>
            <a:off x="2062800" y="24696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"/>
          <p:cNvSpPr/>
          <p:nvPr/>
        </p:nvSpPr>
        <p:spPr>
          <a:xfrm>
            <a:off x="2221200" y="24696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"/>
          <p:cNvSpPr/>
          <p:nvPr/>
        </p:nvSpPr>
        <p:spPr>
          <a:xfrm>
            <a:off x="2379600" y="24696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"/>
          <p:cNvSpPr/>
          <p:nvPr/>
        </p:nvSpPr>
        <p:spPr>
          <a:xfrm>
            <a:off x="2538000" y="24696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"/>
          <p:cNvSpPr/>
          <p:nvPr/>
        </p:nvSpPr>
        <p:spPr>
          <a:xfrm>
            <a:off x="2696400" y="24696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"/>
          <p:cNvSpPr/>
          <p:nvPr/>
        </p:nvSpPr>
        <p:spPr>
          <a:xfrm>
            <a:off x="2854800" y="24696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0" name=""/>
          <p:cNvSpPr/>
          <p:nvPr/>
        </p:nvSpPr>
        <p:spPr>
          <a:xfrm>
            <a:off x="1746000" y="26280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"/>
          <p:cNvSpPr/>
          <p:nvPr/>
        </p:nvSpPr>
        <p:spPr>
          <a:xfrm>
            <a:off x="1904400" y="26280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"/>
          <p:cNvSpPr/>
          <p:nvPr/>
        </p:nvSpPr>
        <p:spPr>
          <a:xfrm>
            <a:off x="2062800" y="26280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"/>
          <p:cNvSpPr/>
          <p:nvPr/>
        </p:nvSpPr>
        <p:spPr>
          <a:xfrm>
            <a:off x="2221200" y="26280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"/>
          <p:cNvSpPr/>
          <p:nvPr/>
        </p:nvSpPr>
        <p:spPr>
          <a:xfrm>
            <a:off x="2379600" y="26280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"/>
          <p:cNvSpPr/>
          <p:nvPr/>
        </p:nvSpPr>
        <p:spPr>
          <a:xfrm>
            <a:off x="2538000" y="26280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6" name=""/>
          <p:cNvSpPr/>
          <p:nvPr/>
        </p:nvSpPr>
        <p:spPr>
          <a:xfrm>
            <a:off x="2696400" y="26280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7" name=""/>
          <p:cNvSpPr/>
          <p:nvPr/>
        </p:nvSpPr>
        <p:spPr>
          <a:xfrm>
            <a:off x="2854800" y="26280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"/>
          <p:cNvSpPr/>
          <p:nvPr/>
        </p:nvSpPr>
        <p:spPr>
          <a:xfrm>
            <a:off x="1746000" y="27864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"/>
          <p:cNvSpPr/>
          <p:nvPr/>
        </p:nvSpPr>
        <p:spPr>
          <a:xfrm>
            <a:off x="1904400" y="27864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"/>
          <p:cNvSpPr/>
          <p:nvPr/>
        </p:nvSpPr>
        <p:spPr>
          <a:xfrm>
            <a:off x="2062800" y="27864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1" name=""/>
          <p:cNvSpPr/>
          <p:nvPr/>
        </p:nvSpPr>
        <p:spPr>
          <a:xfrm>
            <a:off x="2221200" y="27864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"/>
          <p:cNvSpPr/>
          <p:nvPr/>
        </p:nvSpPr>
        <p:spPr>
          <a:xfrm>
            <a:off x="2379600" y="27864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"/>
          <p:cNvSpPr/>
          <p:nvPr/>
        </p:nvSpPr>
        <p:spPr>
          <a:xfrm>
            <a:off x="2538000" y="27864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"/>
          <p:cNvSpPr/>
          <p:nvPr/>
        </p:nvSpPr>
        <p:spPr>
          <a:xfrm>
            <a:off x="2696400" y="27864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"/>
          <p:cNvSpPr/>
          <p:nvPr/>
        </p:nvSpPr>
        <p:spPr>
          <a:xfrm>
            <a:off x="2854800" y="27864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"/>
          <p:cNvSpPr/>
          <p:nvPr/>
        </p:nvSpPr>
        <p:spPr>
          <a:xfrm>
            <a:off x="1746000" y="29448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7" name=""/>
          <p:cNvSpPr/>
          <p:nvPr/>
        </p:nvSpPr>
        <p:spPr>
          <a:xfrm>
            <a:off x="1904400" y="29448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"/>
          <p:cNvSpPr/>
          <p:nvPr/>
        </p:nvSpPr>
        <p:spPr>
          <a:xfrm>
            <a:off x="2062800" y="29448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9" name=""/>
          <p:cNvSpPr/>
          <p:nvPr/>
        </p:nvSpPr>
        <p:spPr>
          <a:xfrm>
            <a:off x="2221200" y="29448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0" name=""/>
          <p:cNvSpPr/>
          <p:nvPr/>
        </p:nvSpPr>
        <p:spPr>
          <a:xfrm>
            <a:off x="2379600" y="29448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"/>
          <p:cNvSpPr/>
          <p:nvPr/>
        </p:nvSpPr>
        <p:spPr>
          <a:xfrm>
            <a:off x="2538000" y="29448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"/>
          <p:cNvSpPr/>
          <p:nvPr/>
        </p:nvSpPr>
        <p:spPr>
          <a:xfrm>
            <a:off x="2696400" y="29448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"/>
          <p:cNvSpPr/>
          <p:nvPr/>
        </p:nvSpPr>
        <p:spPr>
          <a:xfrm>
            <a:off x="2854800" y="29448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"/>
          <p:cNvSpPr/>
          <p:nvPr/>
        </p:nvSpPr>
        <p:spPr>
          <a:xfrm>
            <a:off x="1746000" y="31032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"/>
          <p:cNvSpPr/>
          <p:nvPr/>
        </p:nvSpPr>
        <p:spPr>
          <a:xfrm>
            <a:off x="1904400" y="31032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6" name=""/>
          <p:cNvSpPr/>
          <p:nvPr/>
        </p:nvSpPr>
        <p:spPr>
          <a:xfrm>
            <a:off x="2062800" y="31032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7" name=""/>
          <p:cNvSpPr/>
          <p:nvPr/>
        </p:nvSpPr>
        <p:spPr>
          <a:xfrm>
            <a:off x="2221200" y="31032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"/>
          <p:cNvSpPr/>
          <p:nvPr/>
        </p:nvSpPr>
        <p:spPr>
          <a:xfrm>
            <a:off x="2379600" y="31032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"/>
          <p:cNvSpPr/>
          <p:nvPr/>
        </p:nvSpPr>
        <p:spPr>
          <a:xfrm>
            <a:off x="2538000" y="31032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"/>
          <p:cNvSpPr/>
          <p:nvPr/>
        </p:nvSpPr>
        <p:spPr>
          <a:xfrm>
            <a:off x="2696400" y="31032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"/>
          <p:cNvSpPr/>
          <p:nvPr/>
        </p:nvSpPr>
        <p:spPr>
          <a:xfrm>
            <a:off x="2854800" y="31032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"/>
          <p:cNvSpPr/>
          <p:nvPr/>
        </p:nvSpPr>
        <p:spPr>
          <a:xfrm>
            <a:off x="1746000" y="32616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"/>
          <p:cNvSpPr/>
          <p:nvPr/>
        </p:nvSpPr>
        <p:spPr>
          <a:xfrm>
            <a:off x="1904400" y="32616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4" name=""/>
          <p:cNvSpPr/>
          <p:nvPr/>
        </p:nvSpPr>
        <p:spPr>
          <a:xfrm>
            <a:off x="2062800" y="32616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"/>
          <p:cNvSpPr/>
          <p:nvPr/>
        </p:nvSpPr>
        <p:spPr>
          <a:xfrm>
            <a:off x="2221200" y="32616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"/>
          <p:cNvSpPr/>
          <p:nvPr/>
        </p:nvSpPr>
        <p:spPr>
          <a:xfrm>
            <a:off x="2379600" y="32616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"/>
          <p:cNvSpPr/>
          <p:nvPr/>
        </p:nvSpPr>
        <p:spPr>
          <a:xfrm>
            <a:off x="2538000" y="32616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"/>
          <p:cNvSpPr/>
          <p:nvPr/>
        </p:nvSpPr>
        <p:spPr>
          <a:xfrm>
            <a:off x="2696400" y="32616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"/>
          <p:cNvSpPr/>
          <p:nvPr/>
        </p:nvSpPr>
        <p:spPr>
          <a:xfrm>
            <a:off x="2854800" y="32616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0" name=""/>
          <p:cNvSpPr/>
          <p:nvPr/>
        </p:nvSpPr>
        <p:spPr>
          <a:xfrm>
            <a:off x="5706000" y="18360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"/>
          <p:cNvSpPr/>
          <p:nvPr/>
        </p:nvSpPr>
        <p:spPr>
          <a:xfrm>
            <a:off x="5864400" y="18360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"/>
          <p:cNvSpPr/>
          <p:nvPr/>
        </p:nvSpPr>
        <p:spPr>
          <a:xfrm>
            <a:off x="6022800" y="18360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"/>
          <p:cNvSpPr/>
          <p:nvPr/>
        </p:nvSpPr>
        <p:spPr>
          <a:xfrm>
            <a:off x="6181200" y="18360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"/>
          <p:cNvSpPr/>
          <p:nvPr/>
        </p:nvSpPr>
        <p:spPr>
          <a:xfrm>
            <a:off x="6339600" y="18360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"/>
          <p:cNvSpPr/>
          <p:nvPr/>
        </p:nvSpPr>
        <p:spPr>
          <a:xfrm>
            <a:off x="6498000" y="18360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"/>
          <p:cNvSpPr/>
          <p:nvPr/>
        </p:nvSpPr>
        <p:spPr>
          <a:xfrm>
            <a:off x="6656400" y="18360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"/>
          <p:cNvSpPr/>
          <p:nvPr/>
        </p:nvSpPr>
        <p:spPr>
          <a:xfrm>
            <a:off x="6814800" y="18360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8" name=""/>
          <p:cNvSpPr/>
          <p:nvPr/>
        </p:nvSpPr>
        <p:spPr>
          <a:xfrm>
            <a:off x="5706000" y="19944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"/>
          <p:cNvSpPr/>
          <p:nvPr/>
        </p:nvSpPr>
        <p:spPr>
          <a:xfrm>
            <a:off x="5864400" y="19944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"/>
          <p:cNvSpPr/>
          <p:nvPr/>
        </p:nvSpPr>
        <p:spPr>
          <a:xfrm>
            <a:off x="6022800" y="19944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"/>
          <p:cNvSpPr/>
          <p:nvPr/>
        </p:nvSpPr>
        <p:spPr>
          <a:xfrm>
            <a:off x="6181200" y="19944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"/>
          <p:cNvSpPr/>
          <p:nvPr/>
        </p:nvSpPr>
        <p:spPr>
          <a:xfrm>
            <a:off x="6339600" y="19944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"/>
          <p:cNvSpPr/>
          <p:nvPr/>
        </p:nvSpPr>
        <p:spPr>
          <a:xfrm>
            <a:off x="6498000" y="19944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4" name=""/>
          <p:cNvSpPr/>
          <p:nvPr/>
        </p:nvSpPr>
        <p:spPr>
          <a:xfrm>
            <a:off x="6656400" y="19944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5" name=""/>
          <p:cNvSpPr/>
          <p:nvPr/>
        </p:nvSpPr>
        <p:spPr>
          <a:xfrm>
            <a:off x="6814800" y="19944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"/>
          <p:cNvSpPr/>
          <p:nvPr/>
        </p:nvSpPr>
        <p:spPr>
          <a:xfrm>
            <a:off x="5706000" y="21528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"/>
          <p:cNvSpPr/>
          <p:nvPr/>
        </p:nvSpPr>
        <p:spPr>
          <a:xfrm>
            <a:off x="5864400" y="21528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"/>
          <p:cNvSpPr/>
          <p:nvPr/>
        </p:nvSpPr>
        <p:spPr>
          <a:xfrm>
            <a:off x="6022800" y="21528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"/>
          <p:cNvSpPr/>
          <p:nvPr/>
        </p:nvSpPr>
        <p:spPr>
          <a:xfrm>
            <a:off x="6181200" y="21528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0" name=""/>
          <p:cNvSpPr/>
          <p:nvPr/>
        </p:nvSpPr>
        <p:spPr>
          <a:xfrm>
            <a:off x="6339600" y="21528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1" name=""/>
          <p:cNvSpPr/>
          <p:nvPr/>
        </p:nvSpPr>
        <p:spPr>
          <a:xfrm>
            <a:off x="6498000" y="21528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"/>
          <p:cNvSpPr/>
          <p:nvPr/>
        </p:nvSpPr>
        <p:spPr>
          <a:xfrm>
            <a:off x="6656400" y="21528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3" name=""/>
          <p:cNvSpPr/>
          <p:nvPr/>
        </p:nvSpPr>
        <p:spPr>
          <a:xfrm>
            <a:off x="6814800" y="21528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"/>
          <p:cNvSpPr/>
          <p:nvPr/>
        </p:nvSpPr>
        <p:spPr>
          <a:xfrm>
            <a:off x="5706000" y="23112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"/>
          <p:cNvSpPr/>
          <p:nvPr/>
        </p:nvSpPr>
        <p:spPr>
          <a:xfrm>
            <a:off x="5864400" y="23112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6" name=""/>
          <p:cNvSpPr/>
          <p:nvPr/>
        </p:nvSpPr>
        <p:spPr>
          <a:xfrm>
            <a:off x="6022800" y="23112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"/>
          <p:cNvSpPr/>
          <p:nvPr/>
        </p:nvSpPr>
        <p:spPr>
          <a:xfrm>
            <a:off x="6181200" y="23112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"/>
          <p:cNvSpPr/>
          <p:nvPr/>
        </p:nvSpPr>
        <p:spPr>
          <a:xfrm>
            <a:off x="6339600" y="23112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"/>
          <p:cNvSpPr/>
          <p:nvPr/>
        </p:nvSpPr>
        <p:spPr>
          <a:xfrm>
            <a:off x="6498000" y="23112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"/>
          <p:cNvSpPr/>
          <p:nvPr/>
        </p:nvSpPr>
        <p:spPr>
          <a:xfrm>
            <a:off x="6656400" y="23112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"/>
          <p:cNvSpPr/>
          <p:nvPr/>
        </p:nvSpPr>
        <p:spPr>
          <a:xfrm>
            <a:off x="6814800" y="23112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2" name=""/>
          <p:cNvSpPr/>
          <p:nvPr/>
        </p:nvSpPr>
        <p:spPr>
          <a:xfrm>
            <a:off x="5706000" y="24696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"/>
          <p:cNvSpPr/>
          <p:nvPr/>
        </p:nvSpPr>
        <p:spPr>
          <a:xfrm>
            <a:off x="5864400" y="24696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"/>
          <p:cNvSpPr/>
          <p:nvPr/>
        </p:nvSpPr>
        <p:spPr>
          <a:xfrm>
            <a:off x="6022800" y="24696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"/>
          <p:cNvSpPr/>
          <p:nvPr/>
        </p:nvSpPr>
        <p:spPr>
          <a:xfrm>
            <a:off x="6181200" y="24696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"/>
          <p:cNvSpPr/>
          <p:nvPr/>
        </p:nvSpPr>
        <p:spPr>
          <a:xfrm>
            <a:off x="6339600" y="24696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"/>
          <p:cNvSpPr/>
          <p:nvPr/>
        </p:nvSpPr>
        <p:spPr>
          <a:xfrm>
            <a:off x="6498000" y="24696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8" name=""/>
          <p:cNvSpPr/>
          <p:nvPr/>
        </p:nvSpPr>
        <p:spPr>
          <a:xfrm>
            <a:off x="6656400" y="24696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"/>
          <p:cNvSpPr/>
          <p:nvPr/>
        </p:nvSpPr>
        <p:spPr>
          <a:xfrm>
            <a:off x="6814800" y="24696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0" name=""/>
          <p:cNvSpPr/>
          <p:nvPr/>
        </p:nvSpPr>
        <p:spPr>
          <a:xfrm>
            <a:off x="5706000" y="26280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"/>
          <p:cNvSpPr/>
          <p:nvPr/>
        </p:nvSpPr>
        <p:spPr>
          <a:xfrm>
            <a:off x="5864400" y="26280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2" name=""/>
          <p:cNvSpPr/>
          <p:nvPr/>
        </p:nvSpPr>
        <p:spPr>
          <a:xfrm>
            <a:off x="6022800" y="26280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"/>
          <p:cNvSpPr/>
          <p:nvPr/>
        </p:nvSpPr>
        <p:spPr>
          <a:xfrm>
            <a:off x="6181200" y="26280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4" name=""/>
          <p:cNvSpPr/>
          <p:nvPr/>
        </p:nvSpPr>
        <p:spPr>
          <a:xfrm>
            <a:off x="6339600" y="26280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"/>
          <p:cNvSpPr/>
          <p:nvPr/>
        </p:nvSpPr>
        <p:spPr>
          <a:xfrm>
            <a:off x="6498000" y="26280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6" name=""/>
          <p:cNvSpPr/>
          <p:nvPr/>
        </p:nvSpPr>
        <p:spPr>
          <a:xfrm>
            <a:off x="6656400" y="26280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"/>
          <p:cNvSpPr/>
          <p:nvPr/>
        </p:nvSpPr>
        <p:spPr>
          <a:xfrm>
            <a:off x="6814800" y="26280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8" name=""/>
          <p:cNvSpPr/>
          <p:nvPr/>
        </p:nvSpPr>
        <p:spPr>
          <a:xfrm>
            <a:off x="5706000" y="27864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9" name=""/>
          <p:cNvSpPr/>
          <p:nvPr/>
        </p:nvSpPr>
        <p:spPr>
          <a:xfrm>
            <a:off x="5864400" y="27864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"/>
          <p:cNvSpPr/>
          <p:nvPr/>
        </p:nvSpPr>
        <p:spPr>
          <a:xfrm>
            <a:off x="6022800" y="27864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1" name=""/>
          <p:cNvSpPr/>
          <p:nvPr/>
        </p:nvSpPr>
        <p:spPr>
          <a:xfrm>
            <a:off x="6181200" y="27864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"/>
          <p:cNvSpPr/>
          <p:nvPr/>
        </p:nvSpPr>
        <p:spPr>
          <a:xfrm>
            <a:off x="6339600" y="27864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"/>
          <p:cNvSpPr/>
          <p:nvPr/>
        </p:nvSpPr>
        <p:spPr>
          <a:xfrm>
            <a:off x="6498000" y="27864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4" name=""/>
          <p:cNvSpPr/>
          <p:nvPr/>
        </p:nvSpPr>
        <p:spPr>
          <a:xfrm>
            <a:off x="6656400" y="27864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5" name=""/>
          <p:cNvSpPr/>
          <p:nvPr/>
        </p:nvSpPr>
        <p:spPr>
          <a:xfrm>
            <a:off x="6814800" y="27864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"/>
          <p:cNvSpPr/>
          <p:nvPr/>
        </p:nvSpPr>
        <p:spPr>
          <a:xfrm>
            <a:off x="5706000" y="29448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"/>
          <p:cNvSpPr/>
          <p:nvPr/>
        </p:nvSpPr>
        <p:spPr>
          <a:xfrm>
            <a:off x="5864400" y="29448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8" name=""/>
          <p:cNvSpPr/>
          <p:nvPr/>
        </p:nvSpPr>
        <p:spPr>
          <a:xfrm>
            <a:off x="6022800" y="29448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9" name=""/>
          <p:cNvSpPr/>
          <p:nvPr/>
        </p:nvSpPr>
        <p:spPr>
          <a:xfrm>
            <a:off x="6181200" y="29448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0" name=""/>
          <p:cNvSpPr/>
          <p:nvPr/>
        </p:nvSpPr>
        <p:spPr>
          <a:xfrm>
            <a:off x="6339600" y="29448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"/>
          <p:cNvSpPr/>
          <p:nvPr/>
        </p:nvSpPr>
        <p:spPr>
          <a:xfrm>
            <a:off x="6498000" y="29448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"/>
          <p:cNvSpPr/>
          <p:nvPr/>
        </p:nvSpPr>
        <p:spPr>
          <a:xfrm>
            <a:off x="6656400" y="29448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"/>
          <p:cNvSpPr/>
          <p:nvPr/>
        </p:nvSpPr>
        <p:spPr>
          <a:xfrm>
            <a:off x="6814800" y="29448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"/>
          <p:cNvSpPr/>
          <p:nvPr/>
        </p:nvSpPr>
        <p:spPr>
          <a:xfrm>
            <a:off x="5706000" y="31032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"/>
          <p:cNvSpPr/>
          <p:nvPr/>
        </p:nvSpPr>
        <p:spPr>
          <a:xfrm>
            <a:off x="5864400" y="31032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"/>
          <p:cNvSpPr/>
          <p:nvPr/>
        </p:nvSpPr>
        <p:spPr>
          <a:xfrm>
            <a:off x="6022800" y="31032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"/>
          <p:cNvSpPr/>
          <p:nvPr/>
        </p:nvSpPr>
        <p:spPr>
          <a:xfrm>
            <a:off x="6181200" y="31032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"/>
          <p:cNvSpPr/>
          <p:nvPr/>
        </p:nvSpPr>
        <p:spPr>
          <a:xfrm>
            <a:off x="6339600" y="31032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"/>
          <p:cNvSpPr/>
          <p:nvPr/>
        </p:nvSpPr>
        <p:spPr>
          <a:xfrm>
            <a:off x="6498000" y="31032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"/>
          <p:cNvSpPr/>
          <p:nvPr/>
        </p:nvSpPr>
        <p:spPr>
          <a:xfrm>
            <a:off x="6656400" y="31032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1" name=""/>
          <p:cNvSpPr/>
          <p:nvPr/>
        </p:nvSpPr>
        <p:spPr>
          <a:xfrm>
            <a:off x="6814800" y="31032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2" name=""/>
          <p:cNvSpPr/>
          <p:nvPr/>
        </p:nvSpPr>
        <p:spPr>
          <a:xfrm>
            <a:off x="5706000" y="32616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3" name=""/>
          <p:cNvSpPr/>
          <p:nvPr/>
        </p:nvSpPr>
        <p:spPr>
          <a:xfrm>
            <a:off x="5864400" y="32616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"/>
          <p:cNvSpPr/>
          <p:nvPr/>
        </p:nvSpPr>
        <p:spPr>
          <a:xfrm>
            <a:off x="6022800" y="32616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5" name=""/>
          <p:cNvSpPr/>
          <p:nvPr/>
        </p:nvSpPr>
        <p:spPr>
          <a:xfrm>
            <a:off x="6181200" y="32616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"/>
          <p:cNvSpPr/>
          <p:nvPr/>
        </p:nvSpPr>
        <p:spPr>
          <a:xfrm>
            <a:off x="6339600" y="32616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"/>
          <p:cNvSpPr/>
          <p:nvPr/>
        </p:nvSpPr>
        <p:spPr>
          <a:xfrm>
            <a:off x="6498000" y="3261600"/>
            <a:ext cx="136800" cy="136800"/>
          </a:xfrm>
          <a:prstGeom prst="rect">
            <a:avLst/>
          </a:prstGeom>
          <a:solidFill>
            <a:srgbClr val="FF6B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8" name=""/>
          <p:cNvSpPr/>
          <p:nvPr/>
        </p:nvSpPr>
        <p:spPr>
          <a:xfrm>
            <a:off x="6656400" y="32616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"/>
          <p:cNvSpPr/>
          <p:nvPr/>
        </p:nvSpPr>
        <p:spPr>
          <a:xfrm>
            <a:off x="6814800" y="3261600"/>
            <a:ext cx="136800" cy="136800"/>
          </a:xfrm>
          <a:prstGeom prst="rect">
            <a:avLst/>
          </a:prstGeom>
          <a:solidFill>
            <a:srgbClr val="14182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630000" y="3420000"/>
            <a:ext cx="3708000" cy="2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13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guess 9 · truth 4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4590000" y="3420000"/>
            <a:ext cx="3708000" cy="2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ctr"/>
            <a:r>
              <a:rPr lang="en-US" sz="13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guess 3 · truth 5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630000" y="4032000"/>
            <a:ext cx="7920000" cy="32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250" b="0" i="1" u="none" strike="noStrike">
                <a:solidFill>
                  <a:srgbClr val="5A9DFF"/>
                </a:solidFill>
                <a:effectLst/>
                <a:uFillTx/>
                <a:latin typeface="Arial"/>
              </a:rPr>
              <a:t>It learned pixel patterns that usually work. Draw a 4 like a 9 and it has nothing else to fall back on.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7704000" y="4801680"/>
            <a:ext cx="1152000" cy="19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r"/>
            <a:r>
              <a:rPr lang="en-US" sz="95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14 / 15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"/>
          <p:cNvSpPr/>
          <p:nvPr/>
        </p:nvSpPr>
        <p:spPr>
          <a:xfrm>
            <a:off x="630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5" name=""/>
          <p:cNvSpPr/>
          <p:nvPr/>
        </p:nvSpPr>
        <p:spPr>
          <a:xfrm>
            <a:off x="702000" y="342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"/>
          <p:cNvSpPr/>
          <p:nvPr/>
        </p:nvSpPr>
        <p:spPr>
          <a:xfrm>
            <a:off x="630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"/>
          <p:cNvSpPr/>
          <p:nvPr/>
        </p:nvSpPr>
        <p:spPr>
          <a:xfrm>
            <a:off x="702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"/>
          <p:cNvSpPr/>
          <p:nvPr/>
        </p:nvSpPr>
        <p:spPr>
          <a:xfrm>
            <a:off x="774000" y="414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"/>
          <p:cNvSpPr/>
          <p:nvPr/>
        </p:nvSpPr>
        <p:spPr>
          <a:xfrm>
            <a:off x="702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"/>
          <p:cNvSpPr/>
          <p:nvPr/>
        </p:nvSpPr>
        <p:spPr>
          <a:xfrm>
            <a:off x="774000" y="486000"/>
            <a:ext cx="54000" cy="54000"/>
          </a:xfrm>
          <a:prstGeom prst="rect">
            <a:avLst/>
          </a:prstGeom>
          <a:solidFill>
            <a:srgbClr val="8B80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1044000" y="309600"/>
            <a:ext cx="7200000" cy="25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150" b="0" u="none" spc="170" strike="noStrike">
                <a:solidFill>
                  <a:srgbClr val="46D07E"/>
                </a:solidFill>
                <a:effectLst/>
                <a:uFillTx/>
                <a:latin typeface="Arial"/>
              </a:rPr>
              <a:t>BEFORE THE RUNTIME DISAPPEARS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30000" y="702000"/>
            <a:ext cx="630000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3100" b="1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Keep the file. Change one thing.</a:t>
            </a:r>
            <a:endParaRPr lang="en-US" sz="3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630000" y="1656000"/>
            <a:ext cx="4140000" cy="28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40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1 Download mnist_network.py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2 Pick one experiment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3 Predict what will happen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4 Change one value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A7B0BC"/>
                </a:solidFill>
                <a:effectLst/>
                <a:uFillTx/>
                <a:latin typeface="Arial"/>
              </a:rPr>
              <a:t>5 Run and compare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"/>
          <p:cNvSpPr/>
          <p:nvPr/>
        </p:nvSpPr>
        <p:spPr>
          <a:xfrm>
            <a:off x="4788000" y="1584000"/>
            <a:ext cx="3726000" cy="1735200"/>
          </a:xfrm>
          <a:prstGeom prst="rect">
            <a:avLst/>
          </a:prstGeom>
          <a:solidFill>
            <a:srgbClr val="1A1836"/>
          </a:solidFill>
          <a:ln w="10800">
            <a:solidFill>
              <a:srgbClr val="8B80F9"/>
            </a:solidFill>
            <a:round/>
          </a:ln>
        </p:spPr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986000" y="1735200"/>
            <a:ext cx="3330000" cy="1483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050" b="1" u="none" spc="142" strike="noStrike">
                <a:solidFill>
                  <a:srgbClr val="8B80F9"/>
                </a:solidFill>
                <a:effectLst/>
                <a:uFillTx/>
                <a:latin typeface="Arial"/>
              </a:rPr>
              <a:t>TRY ONE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epochs 10 -&gt; 60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learning rate 0.1 -&gt; 0.01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hidden size 128 -&gt; 32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break the init (std = 1.0)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0" u="none" strike="noStrike">
                <a:solidFill>
                  <a:srgbClr val="ECEEF2"/>
                </a:solidFill>
                <a:effectLst/>
                <a:uFillTx/>
                <a:latin typeface="Arial"/>
              </a:rPr>
              <a:t>layer1_weight_grid(model)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630000" y="4176000"/>
            <a:ext cx="7920000" cy="32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250" b="0" i="1" u="none" strike="noStrike">
                <a:solidFill>
                  <a:srgbClr val="5A9DFF"/>
                </a:solidFill>
                <a:effectLst/>
                <a:uFillTx/>
                <a:latin typeface="Arial"/>
              </a:rPr>
              <a:t>You built the layers, the gradients, and the update. The high-level PyTorch tools package the same machinery.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7704000" y="4801680"/>
            <a:ext cx="1152000" cy="19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algn="r"/>
            <a:r>
              <a:rPr lang="en-US" sz="950" b="0" u="none" strike="noStrike">
                <a:solidFill>
                  <a:srgbClr val="6B7480"/>
                </a:solidFill>
                <a:effectLst/>
                <a:uFillTx/>
                <a:latin typeface="Arial"/>
              </a:rPr>
              <a:t>15 / 15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LibreOffice/26.2.5.2$Linux_X86_64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